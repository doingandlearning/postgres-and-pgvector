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9" r:id="rId1"/>
  </p:sldMasterIdLst>
  <p:notesMasterIdLst>
    <p:notesMasterId r:id="rId21"/>
  </p:notesMasterIdLst>
  <p:sldIdLst>
    <p:sldId id="256" r:id="rId2"/>
    <p:sldId id="259" r:id="rId3"/>
    <p:sldId id="258" r:id="rId4"/>
    <p:sldId id="323" r:id="rId5"/>
    <p:sldId id="324" r:id="rId6"/>
    <p:sldId id="267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34" r:id="rId17"/>
    <p:sldId id="335" r:id="rId18"/>
    <p:sldId id="336" r:id="rId19"/>
    <p:sldId id="33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81"/>
    <p:restoredTop sz="79841"/>
  </p:normalViewPr>
  <p:slideViewPr>
    <p:cSldViewPr snapToGrid="0">
      <p:cViewPr varScale="1">
        <p:scale>
          <a:sx n="68" d="100"/>
          <a:sy n="68" d="100"/>
        </p:scale>
        <p:origin x="208" y="1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DA2908-672F-DC48-8CAD-AEE711B947DA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689AC-D979-8F40-9576-892748982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62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aiss.ai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github.com/google-research/scann" TargetMode="External"/><Relationship Id="rId4" Type="http://schemas.openxmlformats.org/officeDocument/2006/relationships/hyperlink" Target="https://github.com/spotify/annoy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Problem</a:t>
            </a:r>
          </a:p>
          <a:p>
            <a:r>
              <a:rPr lang="en-GB" dirty="0"/>
              <a:t>✅ </a:t>
            </a:r>
            <a:r>
              <a:rPr lang="en-GB" b="1" dirty="0"/>
              <a:t>Query is Slow</a:t>
            </a:r>
            <a:endParaRPr lang="en-GB" dirty="0"/>
          </a:p>
          <a:p>
            <a:r>
              <a:rPr lang="en-GB" b="1" dirty="0"/>
              <a:t>Possible Causes</a:t>
            </a:r>
          </a:p>
          <a:p>
            <a:r>
              <a:rPr lang="en-GB" b="1" dirty="0"/>
              <a:t>Large Vector Index</a:t>
            </a:r>
            <a:endParaRPr lang="en-GB" dirty="0"/>
          </a:p>
          <a:p>
            <a:pPr lvl="1"/>
            <a:r>
              <a:rPr lang="en-GB" dirty="0"/>
              <a:t>Searching through millions of embeddings takes time, especially if stored on disk or in non-optimised formats.</a:t>
            </a:r>
          </a:p>
          <a:p>
            <a:r>
              <a:rPr lang="en-GB" b="1" dirty="0"/>
              <a:t>Inefficient Similarity Search</a:t>
            </a:r>
            <a:endParaRPr lang="en-GB" dirty="0"/>
          </a:p>
          <a:p>
            <a:pPr lvl="1"/>
            <a:r>
              <a:rPr lang="en-GB" dirty="0"/>
              <a:t>Using brute-force comparisons rather than approximate nearest neighbour (ANN) methods.</a:t>
            </a:r>
          </a:p>
          <a:p>
            <a:r>
              <a:rPr lang="en-GB" b="1" dirty="0"/>
              <a:t>Overly Large Chunks</a:t>
            </a:r>
            <a:endParaRPr lang="en-GB" dirty="0"/>
          </a:p>
          <a:p>
            <a:pPr lvl="1"/>
            <a:r>
              <a:rPr lang="en-GB" dirty="0"/>
              <a:t>Large chunks mean more data transfer and more tokens processed in the LLM prompt.</a:t>
            </a:r>
          </a:p>
          <a:p>
            <a:r>
              <a:rPr lang="en-GB" b="1" dirty="0"/>
              <a:t>High Top-k or Low Similarity Threshold</a:t>
            </a:r>
            <a:endParaRPr lang="en-GB" dirty="0"/>
          </a:p>
          <a:p>
            <a:pPr lvl="1"/>
            <a:r>
              <a:rPr lang="en-GB" dirty="0"/>
              <a:t>Requesting too many results or setting thresholds too low increases the result set and processing time.</a:t>
            </a:r>
          </a:p>
          <a:p>
            <a:r>
              <a:rPr lang="en-GB" b="1" dirty="0"/>
              <a:t>Under-Provisioned Hardware</a:t>
            </a:r>
            <a:endParaRPr lang="en-GB" dirty="0"/>
          </a:p>
          <a:p>
            <a:pPr lvl="1"/>
            <a:r>
              <a:rPr lang="en-GB" dirty="0"/>
              <a:t>CPU-only vector search on large datasets can bottleneck, especially if embeddings live in memory.</a:t>
            </a:r>
          </a:p>
          <a:p>
            <a:r>
              <a:rPr lang="en-GB" b="1" dirty="0"/>
              <a:t>Possible Fixes</a:t>
            </a:r>
          </a:p>
          <a:p>
            <a:r>
              <a:rPr lang="en-GB" b="1" dirty="0"/>
              <a:t>Use Approximate Nearest Neighbour (ANN) Search</a:t>
            </a:r>
            <a:endParaRPr lang="en-GB" dirty="0"/>
          </a:p>
          <a:p>
            <a:pPr lvl="1"/>
            <a:r>
              <a:rPr lang="en-GB" dirty="0"/>
              <a:t>Libraries like FAISS, Annoy, or </a:t>
            </a:r>
            <a:r>
              <a:rPr lang="en-GB" dirty="0" err="1"/>
              <a:t>ScaNN</a:t>
            </a:r>
            <a:r>
              <a:rPr lang="en-GB" dirty="0"/>
              <a:t> dramatically speed up similarity search with minimal recall loss.</a:t>
            </a:r>
          </a:p>
          <a:p>
            <a:pPr lvl="2"/>
            <a:r>
              <a:rPr lang="en-GB" dirty="0">
                <a:hlinkClick r:id="rId3"/>
              </a:rPr>
              <a:t>FAISS</a:t>
            </a:r>
            <a:endParaRPr lang="en-GB" dirty="0"/>
          </a:p>
          <a:p>
            <a:pPr lvl="2"/>
            <a:r>
              <a:rPr lang="en-GB" dirty="0">
                <a:hlinkClick r:id="rId4"/>
              </a:rPr>
              <a:t>Annoy</a:t>
            </a:r>
            <a:endParaRPr lang="en-GB" dirty="0"/>
          </a:p>
          <a:p>
            <a:pPr lvl="2"/>
            <a:r>
              <a:rPr lang="en-GB" dirty="0">
                <a:hlinkClick r:id="rId5"/>
              </a:rPr>
              <a:t>ScaNN</a:t>
            </a:r>
            <a:endParaRPr lang="en-GB" dirty="0"/>
          </a:p>
          <a:p>
            <a:r>
              <a:rPr lang="en-GB" b="1" dirty="0"/>
              <a:t>Filter with Metadata First</a:t>
            </a:r>
            <a:endParaRPr lang="en-GB" dirty="0"/>
          </a:p>
          <a:p>
            <a:pPr lvl="1"/>
            <a:r>
              <a:rPr lang="en-GB" dirty="0"/>
              <a:t>Before running a vector search, narrow the candidate set using filters like document type, date range, tags, etc.</a:t>
            </a:r>
          </a:p>
          <a:p>
            <a:r>
              <a:rPr lang="en-GB" b="1" dirty="0"/>
              <a:t>Optimise Chunk Size</a:t>
            </a:r>
            <a:endParaRPr lang="en-GB" dirty="0"/>
          </a:p>
          <a:p>
            <a:pPr lvl="1"/>
            <a:r>
              <a:rPr lang="en-GB" dirty="0"/>
              <a:t>Smaller chunks reduce retrieval and token-processing time.</a:t>
            </a:r>
          </a:p>
          <a:p>
            <a:r>
              <a:rPr lang="en-GB" b="1" dirty="0"/>
              <a:t>Tune Top-k and Similarity Thresholds</a:t>
            </a:r>
            <a:endParaRPr lang="en-GB" dirty="0"/>
          </a:p>
          <a:p>
            <a:pPr lvl="1"/>
            <a:r>
              <a:rPr lang="en-GB" dirty="0"/>
              <a:t>Retrieve only as many results as you truly need (e.g. top-3 instead of top-20).</a:t>
            </a:r>
          </a:p>
          <a:p>
            <a:r>
              <a:rPr lang="en-GB" b="1" dirty="0"/>
              <a:t>Parallelise Retrieval</a:t>
            </a:r>
            <a:endParaRPr lang="en-GB" dirty="0"/>
          </a:p>
          <a:p>
            <a:pPr lvl="1"/>
            <a:r>
              <a:rPr lang="en-GB" dirty="0"/>
              <a:t>Run vector lookups in parallel across shards or multiple processes.</a:t>
            </a:r>
          </a:p>
          <a:p>
            <a:r>
              <a:rPr lang="en-GB" b="1" dirty="0"/>
              <a:t>Hardware Acceleration</a:t>
            </a:r>
            <a:endParaRPr lang="en-GB" dirty="0"/>
          </a:p>
          <a:p>
            <a:pPr lvl="1"/>
            <a:r>
              <a:rPr lang="en-GB" dirty="0"/>
              <a:t>Consider GPUs for vector search if the library supports it (e.g. FAISS with GPU).</a:t>
            </a:r>
          </a:p>
          <a:p>
            <a:r>
              <a:rPr lang="en-GB" b="1" dirty="0"/>
              <a:t>Index Compression</a:t>
            </a:r>
            <a:endParaRPr lang="en-GB" dirty="0"/>
          </a:p>
          <a:p>
            <a:pPr lvl="1"/>
            <a:r>
              <a:rPr lang="en-GB" dirty="0"/>
              <a:t>Use techniques like Product Quantization in FAISS to speed up searches with reduced memory footprint.</a:t>
            </a:r>
          </a:p>
          <a:p>
            <a:r>
              <a:rPr lang="en-GB" b="1" dirty="0"/>
              <a:t>Updated Table Row Example:</a:t>
            </a:r>
            <a:endParaRPr lang="en-GB" dirty="0"/>
          </a:p>
          <a:p>
            <a:r>
              <a:rPr lang="en-GB" dirty="0"/>
              <a:t>Problem Cause Fix Query is Slow Large index, brute-force search, high top-k, under-provisioned hardware Use ANN search (FAISS, Annoy), filter by metadata, optimise chunk size, tune retrieval parameters, consider GPU acceleration.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689AC-D979-8F40-9576-8927489825F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990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89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8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006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955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1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20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88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983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99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8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272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31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637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CCB16-91F9-4682-BCA6-1268F1CF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1" y="376518"/>
            <a:ext cx="11730789" cy="5681734"/>
          </a:xfrm>
        </p:spPr>
        <p:txBody>
          <a:bodyPr>
            <a:normAutofit/>
          </a:bodyPr>
          <a:lstStyle>
            <a:lvl1pPr>
              <a:defRPr sz="5400">
                <a:solidFill>
                  <a:srgbClr val="1A144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D7689C-0806-49CA-ADB1-91D43C05DE55}"/>
              </a:ext>
            </a:extLst>
          </p:cNvPr>
          <p:cNvGrpSpPr/>
          <p:nvPr userDrawn="1"/>
        </p:nvGrpSpPr>
        <p:grpSpPr>
          <a:xfrm>
            <a:off x="11595615" y="6272479"/>
            <a:ext cx="461773" cy="469521"/>
            <a:chOff x="11613545" y="6272479"/>
            <a:chExt cx="461773" cy="46952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B9B4402-A46E-4B4E-9887-4139559898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613545" y="6272479"/>
              <a:ext cx="461773" cy="46952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3B57896-F51A-4869-B2DF-EEEC67F1B29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b="2491"/>
            <a:stretch/>
          </p:blipFill>
          <p:spPr>
            <a:xfrm>
              <a:off x="11718819" y="6325130"/>
              <a:ext cx="277918" cy="3633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37920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266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985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697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0984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2365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3027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7227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017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4BA5-570B-4BB5-B3E7-33BEEF6B9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F9F236-E5F1-497B-9D2D-66F8717F5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/>
              <a:t>Confidential &amp; Proprietary – Not for Distribution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9C20A-51FB-47CF-8539-89D6150A17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7"/>
            <a:ext cx="11734800" cy="47067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09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CBF3A-D7FB-4B97-8FD5-6FFB20CB1E84}" type="datetimeFigureOut">
              <a:rPr lang="en-US" smtClean="0"/>
              <a:t>7/28/26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274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  <p:sldLayoutId id="2147483757" r:id="rId18"/>
    <p:sldLayoutId id="2147483758" r:id="rId19"/>
    <p:sldLayoutId id="2147483759" r:id="rId20"/>
    <p:sldLayoutId id="2147483760" r:id="rId21"/>
    <p:sldLayoutId id="2147483761" r:id="rId22"/>
    <p:sldLayoutId id="2147483762" r:id="rId23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room with a blue sky&#10;&#10;AI-generated content may be incorrect.">
            <a:extLst>
              <a:ext uri="{FF2B5EF4-FFF2-40B4-BE49-F238E27FC236}">
                <a16:creationId xmlns:a16="http://schemas.microsoft.com/office/drawing/2014/main" id="{A68F82C4-28FB-5F68-0A48-4E9CAC5D3B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500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51E792-3038-5DC3-BB47-4E0C44590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6430"/>
            <a:ext cx="9144000" cy="2820573"/>
          </a:xfrm>
        </p:spPr>
        <p:txBody>
          <a:bodyPr>
            <a:normAutofit/>
          </a:bodyPr>
          <a:lstStyle/>
          <a:p>
            <a:r>
              <a:rPr lang="en-GB" sz="6600" dirty="0"/>
              <a:t>Querying LLMs with Retrieved Data</a:t>
            </a: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D0668-90BC-89E2-5B19-926C52110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8856" y="4628271"/>
            <a:ext cx="4054288" cy="1069144"/>
          </a:xfrm>
        </p:spPr>
        <p:txBody>
          <a:bodyPr>
            <a:norm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505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E393E6-CFA2-610E-9C20-FF179E936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353132"/>
              </p:ext>
            </p:extLst>
          </p:nvPr>
        </p:nvGraphicFramePr>
        <p:xfrm>
          <a:off x="99899" y="83757"/>
          <a:ext cx="11992202" cy="6132927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3158229">
                  <a:extLst>
                    <a:ext uri="{9D8B030D-6E8A-4147-A177-3AD203B41FA5}">
                      <a16:colId xmlns:a16="http://schemas.microsoft.com/office/drawing/2014/main" val="1706393590"/>
                    </a:ext>
                  </a:extLst>
                </a:gridCol>
                <a:gridCol w="2837873">
                  <a:extLst>
                    <a:ext uri="{9D8B030D-6E8A-4147-A177-3AD203B41FA5}">
                      <a16:colId xmlns:a16="http://schemas.microsoft.com/office/drawing/2014/main" val="3058513581"/>
                    </a:ext>
                  </a:extLst>
                </a:gridCol>
                <a:gridCol w="2998050">
                  <a:extLst>
                    <a:ext uri="{9D8B030D-6E8A-4147-A177-3AD203B41FA5}">
                      <a16:colId xmlns:a16="http://schemas.microsoft.com/office/drawing/2014/main" val="1592556884"/>
                    </a:ext>
                  </a:extLst>
                </a:gridCol>
                <a:gridCol w="2998050">
                  <a:extLst>
                    <a:ext uri="{9D8B030D-6E8A-4147-A177-3AD203B41FA5}">
                      <a16:colId xmlns:a16="http://schemas.microsoft.com/office/drawing/2014/main" val="3400378745"/>
                    </a:ext>
                  </a:extLst>
                </a:gridCol>
              </a:tblGrid>
              <a:tr h="570832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 Overview of AI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 Why Postgres as a vector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 Storing and managing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 Querying the vector store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013857"/>
                  </a:ext>
                </a:extLst>
              </a:tr>
              <a:tr h="2438464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Look at high-level architecture - LLMs, vector stores and JSON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Look at key vocabulary and concepts (embeddings, vectors, hybrid queries, 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is a vector store? Key concepts and use cases.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Why Postgres and how does it compare with other market tools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Setting up Postgres with vector capabilities (</a:t>
                      </a:r>
                      <a:r>
                        <a:rPr lang="en-US" sz="16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pgvector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Lab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Install and configure Postgres using Docker</a:t>
                      </a:r>
                      <a:endParaRPr lang="en-GB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Generating embeddings: Overview of tools and workflows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Storing and organizing embeddings in Postgres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Strategies for handling large datasets including chunking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Dense and sparse vectors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Lab: </a:t>
                      </a: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Generate embeddings for a dataset and store them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Techniques for similarity search: k-NN, cosine similarity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Using indexes to optimize vector queries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Reranking results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Lab: </a:t>
                      </a: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Query stored vectors to retrieve similar items (document/image search)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538134"/>
                  </a:ext>
                </a:extLst>
              </a:tr>
              <a:tr h="60993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5. Querying LLMs with retrieved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6. NoSQL with JSON in Postgres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7. Integrating Vector, Relational and JSON Data</a:t>
                      </a:r>
                      <a:endParaRPr lang="en-GB" sz="16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8. Putting it all together</a:t>
                      </a:r>
                      <a:endParaRPr lang="en-GB" sz="16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733770"/>
                  </a:ext>
                </a:extLst>
              </a:tr>
              <a:tr h="241403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Recap on querying LLMs vis APIs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Best practices for combining vector retrieval with LLM prompts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Prompt configuration parameters (temperature, top-k, etc)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Lab:</a:t>
                      </a: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Build a pipeline where vector store results enhance LLM responses (context-aware Q&amp;A, etc)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Overview of JSON/JSONB support in Postgres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Querying JSONB data with SQL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Indexing JSONB data for performance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Lab: </a:t>
                      </a:r>
                      <a:r>
                        <a:rPr lang="en-GB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 a schema mixing vector, relational and JSONB data for a sample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Building hybrid queries to power advanced workflows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Case study: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Combining embeddings, metadata (relational) and configurations (JSON)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Lab: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Implement a hybrid query to support a sample AI use case</a:t>
                      </a:r>
                      <a:endParaRPr lang="en-GB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Full stack pipeline demo: Retrieve data, query the LLM and return results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Debugging and </a:t>
                      </a:r>
                      <a:r>
                        <a:rPr lang="en-GB" sz="1600" noProof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optimising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the workflow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Spotlight on LLM frameworks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Lab: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Build a working application combining all elements </a:t>
                      </a:r>
                      <a:endParaRPr lang="en-GB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013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7282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DAE11-A1FE-B568-3E56-A44ECBA17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the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2A311-6037-854F-8418-20DBA260E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Understand the Fundamentals of LLM Querying</a:t>
            </a:r>
          </a:p>
          <a:p>
            <a:r>
              <a:rPr lang="en-GB" dirty="0"/>
              <a:t>Apply Best Practices for Combining Vector Retrieval with LLM Prompts</a:t>
            </a:r>
          </a:p>
          <a:p>
            <a:r>
              <a:rPr lang="en-GB" dirty="0"/>
              <a:t>Optimize LLM Queries with Configuration Parameters</a:t>
            </a:r>
          </a:p>
          <a:p>
            <a:r>
              <a:rPr lang="en-GB" dirty="0"/>
              <a:t>Lab: </a:t>
            </a:r>
            <a:r>
              <a:rPr lang="en-GB" b="1" dirty="0"/>
              <a:t>Build a Pipeline for Context-Aware LLM Responses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04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8786D-92A8-A08D-9064-AB0AB3A69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6858000" cy="1028700"/>
          </a:xfrm>
        </p:spPr>
        <p:txBody>
          <a:bodyPr/>
          <a:lstStyle/>
          <a:p>
            <a:r>
              <a:rPr lang="en-US" dirty="0"/>
              <a:t>How do we interact with LLMs?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567CC2-5293-93B4-30C0-7C2F6718B8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493539-F4CE-FC07-D461-411A07832EC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Large Language Models (LLMs) generate text based on input prompts</a:t>
            </a:r>
          </a:p>
          <a:p>
            <a:r>
              <a:rPr lang="en-US" dirty="0"/>
              <a:t>They rely on </a:t>
            </a:r>
            <a:r>
              <a:rPr lang="en-US" dirty="0" err="1"/>
              <a:t>probabilisitic</a:t>
            </a:r>
            <a:r>
              <a:rPr lang="en-US" dirty="0"/>
              <a:t> word prediction using pre-trained embeddings</a:t>
            </a:r>
          </a:p>
          <a:p>
            <a:r>
              <a:rPr lang="en-US" dirty="0"/>
              <a:t>Two common ways to interact with LLMs:</a:t>
            </a:r>
          </a:p>
          <a:p>
            <a:pPr lvl="1"/>
            <a:r>
              <a:rPr lang="en-US" dirty="0"/>
              <a:t>Direct Input: User provides a prompt, LLM generates an output</a:t>
            </a:r>
          </a:p>
          <a:p>
            <a:pPr lvl="1"/>
            <a:r>
              <a:rPr lang="en-US" dirty="0"/>
              <a:t>Retrieval-Augmented Generation (RAG): LLM is provided with external data to refine responses</a:t>
            </a:r>
          </a:p>
          <a:p>
            <a:pPr lvl="1"/>
            <a:endParaRPr lang="en-US" dirty="0"/>
          </a:p>
          <a:p>
            <a:pPr marL="266700" lvl="1" indent="0">
              <a:buNone/>
            </a:pPr>
            <a:r>
              <a:rPr lang="en-GB" dirty="0"/>
              <a:t>📌 </a:t>
            </a:r>
            <a:r>
              <a:rPr lang="en-GB" b="1" dirty="0"/>
              <a:t>Key Takeaway</a:t>
            </a:r>
            <a:r>
              <a:rPr lang="en-GB" dirty="0"/>
              <a:t>: LLMs do not “remember” external data unless explicitly provided in context.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85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FAA5E-1FCB-FF04-D230-2785B88FE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6096000" cy="1092200"/>
          </a:xfrm>
        </p:spPr>
        <p:txBody>
          <a:bodyPr/>
          <a:lstStyle/>
          <a:p>
            <a:r>
              <a:rPr lang="en-GB" dirty="0"/>
              <a:t>Using APIs to Query LLMs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830349-8DA0-2D33-C5A1-085B74EE0B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1EF50F-76B5-4930-472B-D6777F252AC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1500" y="1306257"/>
            <a:ext cx="9563100" cy="470675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Most production use cases rely on </a:t>
            </a:r>
            <a:r>
              <a:rPr lang="en-GB" b="1" dirty="0"/>
              <a:t>LLM APIs</a:t>
            </a:r>
            <a:r>
              <a:rPr lang="en-GB" dirty="0"/>
              <a:t> rather than self-hosted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APIs provide: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Standardized endpoints</a:t>
            </a:r>
            <a:r>
              <a:rPr lang="en-GB" dirty="0"/>
              <a:t> (e.g., POST /v1/completions)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Customization parameters</a:t>
            </a:r>
            <a:r>
              <a:rPr lang="en-GB" dirty="0"/>
              <a:t> (temperature, </a:t>
            </a:r>
            <a:r>
              <a:rPr lang="en-GB" dirty="0" err="1"/>
              <a:t>max_tokens</a:t>
            </a:r>
            <a:r>
              <a:rPr lang="en-GB" dirty="0"/>
              <a:t>, top-k)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Integration with retrieval pipelines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Example providers: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OpenAI (gpt-4, gpt-3.5-turbo)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Cohere, Anthropic (Claude), Google (Gemini)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Open-source models (via Hugging Face Inference API)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628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042C2-C24C-4CF9-AA80-B9DDDDC12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91933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24837-DC92-9CBA-0C46-16C4D7532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051800" cy="1200273"/>
          </a:xfrm>
        </p:spPr>
        <p:txBody>
          <a:bodyPr/>
          <a:lstStyle/>
          <a:p>
            <a:r>
              <a:rPr lang="en-GB" dirty="0"/>
              <a:t>Common Challenges in LLM Querying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06589B-FFCD-1393-8995-C5F82E3C9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800D88-060C-DA28-047B-F4E07A95FD3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1075624"/>
            <a:ext cx="11734800" cy="4706751"/>
          </a:xfrm>
        </p:spPr>
        <p:txBody>
          <a:bodyPr>
            <a:normAutofit/>
          </a:bodyPr>
          <a:lstStyle/>
          <a:p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Context Length Limitations</a:t>
            </a:r>
            <a:r>
              <a:rPr lang="en-GB" dirty="0"/>
              <a:t>: Most LLMs can only process a fixed number of tokens (~4K-128K).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Hallucinations</a:t>
            </a:r>
            <a:r>
              <a:rPr lang="en-GB" dirty="0"/>
              <a:t>: LLMs may generate plausible but incorrect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Deterministic vs. Stochastic </a:t>
            </a:r>
            <a:r>
              <a:rPr lang="en-GB" b="1" dirty="0" err="1"/>
              <a:t>Behavior</a:t>
            </a:r>
            <a:r>
              <a:rPr lang="en-GB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Lower temperature = more predictable responses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Higher temperature = more creative but less reliable responses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Lack of Domain Knowledge</a:t>
            </a:r>
            <a:r>
              <a:rPr lang="en-GB" dirty="0"/>
              <a:t>: LLMs may not have up-to-date or domain-specific knowledge unless retrieved externally.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📌 </a:t>
            </a:r>
            <a:r>
              <a:rPr lang="en-GB" b="1" dirty="0"/>
              <a:t>Key Takeaway</a:t>
            </a:r>
            <a:r>
              <a:rPr lang="en-GB" dirty="0"/>
              <a:t>: To improve reliability, external knowledge should be retrieved and provided as context.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061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C1CD-BBE5-FCF5-0D05-CCAB9E50F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359900" cy="1104900"/>
          </a:xfrm>
        </p:spPr>
        <p:txBody>
          <a:bodyPr>
            <a:normAutofit fontScale="90000"/>
          </a:bodyPr>
          <a:lstStyle/>
          <a:p>
            <a:r>
              <a:rPr lang="en-GB" i="1" dirty="0"/>
              <a:t>Enhancing LLM Queries with Retrieved Data (RAG)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34CBA7-3F94-7E77-1D27-E084038658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B6D398-7D4D-8BC2-F44E-9FC40094507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1135697"/>
            <a:ext cx="11734800" cy="470675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What is RAG?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Retrieves external data before querying an LLM.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Provides additional knowledge in the prompt.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Steps in RAG-Based Querying</a:t>
            </a:r>
            <a:r>
              <a:rPr lang="en-GB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User Query → Vector Search</a:t>
            </a:r>
            <a:r>
              <a:rPr lang="en-GB" dirty="0"/>
              <a:t>: Find relevant stored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Retrieve Results → Context Injection</a:t>
            </a:r>
            <a:r>
              <a:rPr lang="en-GB" dirty="0"/>
              <a:t>: Add retrieved text to the prompt.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Query LLM with Enhanced Context</a:t>
            </a:r>
            <a:r>
              <a:rPr lang="en-GB" dirty="0"/>
              <a:t> → Improved response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Example Use Case</a:t>
            </a:r>
            <a:r>
              <a:rPr lang="en-GB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Searching an internal knowledge base before asking an LLM.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AI-powered search assistants retrieving FAQs before generating answers.</a:t>
            </a:r>
          </a:p>
          <a:p>
            <a:pPr marL="0" indent="0">
              <a:buNone/>
            </a:pPr>
            <a:r>
              <a:rPr lang="en-GB" dirty="0"/>
              <a:t>📌 </a:t>
            </a:r>
            <a:r>
              <a:rPr lang="en-GB" b="1" dirty="0"/>
              <a:t>Key Takeaway</a:t>
            </a:r>
            <a:r>
              <a:rPr lang="en-GB" dirty="0"/>
              <a:t>: Combining vector retrieval with LLMs ensures </a:t>
            </a:r>
            <a:r>
              <a:rPr lang="en-GB" b="1" dirty="0"/>
              <a:t>more accurate, relevant, and reliable</a:t>
            </a:r>
            <a:r>
              <a:rPr lang="en-GB" dirty="0"/>
              <a:t> responses.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614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58DB3-BA96-41C1-CD56-E6AF0AD1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90F43-F880-8BB0-2677-2B304D42E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692857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49510-5F80-00E9-08A2-A0A240B76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3" y="1"/>
            <a:ext cx="9195597" cy="1117600"/>
          </a:xfrm>
        </p:spPr>
        <p:txBody>
          <a:bodyPr>
            <a:normAutofit/>
          </a:bodyPr>
          <a:lstStyle/>
          <a:p>
            <a:r>
              <a:rPr lang="en-GB" i="1" dirty="0"/>
              <a:t>Optimizing Vector-Augmented LLM Queries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2D1333-E811-1772-A036-F1F704F262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10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E19535-506F-1701-AE7B-9A1CD04DB3C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1117601"/>
            <a:ext cx="11734800" cy="470675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✅ </a:t>
            </a:r>
            <a:r>
              <a:rPr lang="en-GB" b="1" dirty="0"/>
              <a:t>Retrieve Before You Generate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Always fetch relevant data first, then pass it into the LLM.</a:t>
            </a:r>
          </a:p>
          <a:p>
            <a:pPr marL="0" indent="0">
              <a:buNone/>
            </a:pPr>
            <a:r>
              <a:rPr lang="en-GB" dirty="0"/>
              <a:t>✅ </a:t>
            </a:r>
            <a:r>
              <a:rPr lang="en-GB" b="1" dirty="0"/>
              <a:t>Limit the Number of Retrieved Items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Avoid overloading the LLM with too much context (3-5 items max).</a:t>
            </a:r>
          </a:p>
          <a:p>
            <a:pPr marL="0" indent="0">
              <a:buNone/>
            </a:pPr>
            <a:r>
              <a:rPr lang="en-GB" dirty="0"/>
              <a:t>✅ </a:t>
            </a:r>
            <a:r>
              <a:rPr lang="en-GB" b="1" dirty="0"/>
              <a:t>Format Context in a Structured Way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</a:t>
            </a:r>
            <a:r>
              <a:rPr lang="en-GB" b="1" dirty="0"/>
              <a:t>bullet points, JSON, or key-value pairs</a:t>
            </a:r>
            <a:r>
              <a:rPr lang="en-GB" dirty="0"/>
              <a:t> in the LLM prompt.</a:t>
            </a:r>
          </a:p>
          <a:p>
            <a:pPr marL="0" indent="0">
              <a:buNone/>
            </a:pPr>
            <a:r>
              <a:rPr lang="en-GB" dirty="0"/>
              <a:t>✅ </a:t>
            </a:r>
            <a:r>
              <a:rPr lang="en-GB" b="1" dirty="0"/>
              <a:t>Use Clear Prompt Engineering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Tell the LLM exactly how to use the retrieved data (e.g., </a:t>
            </a:r>
            <a:r>
              <a:rPr lang="en-GB" i="1" dirty="0"/>
              <a:t>"Summarize the books and categorize them by experience level"</a:t>
            </a:r>
            <a:r>
              <a:rPr lang="en-GB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 marL="0" indent="0">
              <a:buNone/>
            </a:pPr>
            <a:r>
              <a:rPr lang="en-GB" dirty="0"/>
              <a:t>📌 </a:t>
            </a:r>
            <a:r>
              <a:rPr lang="en-GB" b="1" dirty="0"/>
              <a:t>Key Takeaway:</a:t>
            </a:r>
            <a:br>
              <a:rPr lang="en-GB" dirty="0"/>
            </a:br>
            <a:r>
              <a:rPr lang="en-GB" b="1" dirty="0"/>
              <a:t>The quality of LLM responses depends on how well the vector-retrieved data is structured and provided.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64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8575B-B3F7-2CEE-3A96-0174C4F67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161" y="1"/>
            <a:ext cx="11300839" cy="1056903"/>
          </a:xfrm>
        </p:spPr>
        <p:txBody>
          <a:bodyPr>
            <a:normAutofit/>
          </a:bodyPr>
          <a:lstStyle/>
          <a:p>
            <a:r>
              <a:rPr lang="en-GB" i="1" dirty="0"/>
              <a:t>Troubleshooting Vector Retrieval &amp; LLM Augmentation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69DF16D-D56F-B135-F87D-7E853937C1E2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177815156"/>
              </p:ext>
            </p:extLst>
          </p:nvPr>
        </p:nvGraphicFramePr>
        <p:xfrm>
          <a:off x="228600" y="1551940"/>
          <a:ext cx="11734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8369">
                  <a:extLst>
                    <a:ext uri="{9D8B030D-6E8A-4147-A177-3AD203B41FA5}">
                      <a16:colId xmlns:a16="http://schemas.microsoft.com/office/drawing/2014/main" val="59061298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44182689"/>
                    </a:ext>
                  </a:extLst>
                </a:gridCol>
                <a:gridCol w="4482431">
                  <a:extLst>
                    <a:ext uri="{9D8B030D-6E8A-4147-A177-3AD203B41FA5}">
                      <a16:colId xmlns:a16="http://schemas.microsoft.com/office/drawing/2014/main" val="8504835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b="1" dirty="0"/>
                        <a:t>Problem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Cause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Fix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3338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LLM Hallucinates Facts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LLM generates responses without sufficient grounding in real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Ensure retrieved data is structured</a:t>
                      </a:r>
                      <a:r>
                        <a:rPr lang="en-GB" dirty="0"/>
                        <a:t> before sending it to the LLM. Clearly separate facts from instructions.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4544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/>
                        <a:t>Retrieved Results Are Not Relevant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Poor-quality embeddings or incorrect similarity metric used.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Use a </a:t>
                      </a:r>
                      <a:r>
                        <a:rPr lang="en-GB" b="1"/>
                        <a:t>better embedding model</a:t>
                      </a:r>
                      <a:r>
                        <a:rPr lang="en-GB"/>
                        <a:t> (bge-m3), </a:t>
                      </a:r>
                      <a:r>
                        <a:rPr lang="en-GB" b="1"/>
                        <a:t>filter by metadata</a:t>
                      </a:r>
                      <a:r>
                        <a:rPr lang="en-GB"/>
                        <a:t>, and </a:t>
                      </a:r>
                      <a:r>
                        <a:rPr lang="en-GB" b="1"/>
                        <a:t>fine-tune retrieval parameters (top-k, similarity threshold)</a:t>
                      </a:r>
                      <a:r>
                        <a:rPr lang="en-GB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3521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LLM Response Is Too Generic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The LLM is responding broadly instead of using retrieved context.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Provide </a:t>
                      </a:r>
                      <a:r>
                        <a:rPr lang="en-GB" b="1"/>
                        <a:t>explicit instructions in the prompt</a:t>
                      </a:r>
                      <a:r>
                        <a:rPr lang="en-GB"/>
                        <a:t>, e.g., </a:t>
                      </a:r>
                      <a:r>
                        <a:rPr lang="en-GB" i="1"/>
                        <a:t>"Base your answer only on the books provided."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0814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/>
                        <a:t>Query is Slow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dirty="0"/>
                        <a:t>Lots of possibilities: Large vector index, inefficient similarity search, overly large chunks, high top-k, low similarity threshold, under-provisioned hardware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dirty="0"/>
                        <a:t>Lots of possible fixes: use approximate nearest neighbour, filter with metadata first, optimise chunk size, tune thresholds, parallelise retrieval, hardware acceleration, index compression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5426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715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FE1A3-6AE8-A476-9CDC-98BFF613A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486900" cy="863600"/>
          </a:xfrm>
        </p:spPr>
        <p:txBody>
          <a:bodyPr>
            <a:normAutofit fontScale="90000"/>
          </a:bodyPr>
          <a:lstStyle/>
          <a:p>
            <a:r>
              <a:rPr lang="en-GB" i="1" dirty="0"/>
              <a:t>Tuning LLM Responses with Parameters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AA578D-4EF0-3B4B-F97A-70367F9D48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12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2C0CAC-F073-5C8B-F533-FBEC51FB96B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28600" y="1200401"/>
            <a:ext cx="11734800" cy="4706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📌 </a:t>
            </a:r>
            <a:r>
              <a:rPr lang="en-GB" b="1" dirty="0"/>
              <a:t>Key Points: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LLM outputs can be controlled by adjusting key parameters.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same query can produce </a:t>
            </a:r>
            <a:r>
              <a:rPr lang="en-GB" b="1" dirty="0"/>
              <a:t>deterministic, creative, or factually rich responses</a:t>
            </a:r>
            <a:r>
              <a:rPr lang="en-GB" dirty="0"/>
              <a:t> depending on settings.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Understanding parameter effects allows </a:t>
            </a:r>
            <a:r>
              <a:rPr lang="en-GB" b="1" dirty="0"/>
              <a:t>fine-tuning for optimal results</a:t>
            </a:r>
            <a:r>
              <a:rPr lang="en-GB" dirty="0"/>
              <a:t>.</a:t>
            </a:r>
          </a:p>
          <a:p>
            <a:r>
              <a:rPr lang="en-GB" dirty="0"/>
              <a:t>💡 </a:t>
            </a:r>
            <a:r>
              <a:rPr lang="en-GB" b="1" dirty="0"/>
              <a:t>Example Use Case: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Setting temperature=0.0 ensures </a:t>
            </a:r>
            <a:r>
              <a:rPr lang="en-GB" b="1" dirty="0"/>
              <a:t>precise, factual responses</a:t>
            </a:r>
            <a:r>
              <a:rPr lang="en-GB" dirty="0"/>
              <a:t> (e.g., legal documents).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Setting temperature=0.9 enables </a:t>
            </a:r>
            <a:r>
              <a:rPr lang="en-GB" b="1" dirty="0"/>
              <a:t>creative storytelling</a:t>
            </a:r>
            <a:r>
              <a:rPr lang="en-GB" dirty="0"/>
              <a:t> (e.g., marketing copy).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250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5" grpI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67ED0-86BC-A72D-B5A2-2385E827C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Core Parameters That Affect Response </a:t>
            </a:r>
            <a:r>
              <a:rPr lang="en-GB" dirty="0" err="1"/>
              <a:t>Behavior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F7DA56-F6D8-8572-250B-2BAE3A3EB3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13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440C7F6-4481-7287-910C-AA82EBEFD351}"/>
              </a:ext>
            </a:extLst>
          </p:cNvPr>
          <p:cNvGraphicFramePr>
            <a:graphicFrameLocks noGrp="1"/>
          </p:cNvGraphicFramePr>
          <p:nvPr>
            <p:ph sz="quarter" idx="12"/>
          </p:nvPr>
        </p:nvGraphicFramePr>
        <p:xfrm>
          <a:off x="241300" y="1443038"/>
          <a:ext cx="11734800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6567">
                  <a:extLst>
                    <a:ext uri="{9D8B030D-6E8A-4147-A177-3AD203B41FA5}">
                      <a16:colId xmlns:a16="http://schemas.microsoft.com/office/drawing/2014/main" val="1106514210"/>
                    </a:ext>
                  </a:extLst>
                </a:gridCol>
                <a:gridCol w="4241800">
                  <a:extLst>
                    <a:ext uri="{9D8B030D-6E8A-4147-A177-3AD203B41FA5}">
                      <a16:colId xmlns:a16="http://schemas.microsoft.com/office/drawing/2014/main" val="2312671904"/>
                    </a:ext>
                  </a:extLst>
                </a:gridCol>
                <a:gridCol w="4906433">
                  <a:extLst>
                    <a:ext uri="{9D8B030D-6E8A-4147-A177-3AD203B41FA5}">
                      <a16:colId xmlns:a16="http://schemas.microsoft.com/office/drawing/2014/main" val="1576625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Parameter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/>
                        <a:t>Description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Effect on Output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06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Controls randomness (0.0 = deterministic, 1.0 = highly creative).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Lower values ensure predictable responses, higher values increase variability.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476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top_p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Nucleus sampling – sets diversity by filtering top probability tokens.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Lower values (e.g., 0.5) create </a:t>
                      </a:r>
                      <a:r>
                        <a:rPr lang="en-GB" b="1" dirty="0"/>
                        <a:t>focused answers</a:t>
                      </a:r>
                      <a:r>
                        <a:rPr lang="en-GB" dirty="0"/>
                        <a:t>, higher values (e.g., 0.9) allow </a:t>
                      </a:r>
                      <a:r>
                        <a:rPr lang="en-GB" b="1" dirty="0"/>
                        <a:t>more variety</a:t>
                      </a:r>
                      <a:r>
                        <a:rPr lang="en-GB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278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max_tokens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Limits response length.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Prevents excessively long outputs, useful for API efficiency.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283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frequency_penalty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Reduces repetition of words/phrases.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Higher values discourage repeated content in responses.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8630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presence_penalty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Encourages introducing new topics.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Higher values make the response more exploratory and broad.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93268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8DCD8AB-2F68-618C-9AD6-AC933BB6C1C8}"/>
              </a:ext>
            </a:extLst>
          </p:cNvPr>
          <p:cNvSpPr txBox="1"/>
          <p:nvPr/>
        </p:nvSpPr>
        <p:spPr>
          <a:xfrm>
            <a:off x="240631" y="5414962"/>
            <a:ext cx="86314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📌 </a:t>
            </a:r>
            <a:r>
              <a:rPr lang="en-GB" b="1" dirty="0"/>
              <a:t>Key Takeaway:</a:t>
            </a:r>
            <a:br>
              <a:rPr lang="en-GB" dirty="0"/>
            </a:br>
            <a:r>
              <a:rPr lang="en-GB" b="1" dirty="0"/>
              <a:t>Different parameters adjust precision, randomness, verbosity, and repetition.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9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91F33-CE99-E997-A4B5-B470A7203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569"/>
            <a:ext cx="10833100" cy="971769"/>
          </a:xfrm>
        </p:spPr>
        <p:txBody>
          <a:bodyPr>
            <a:normAutofit fontScale="90000"/>
          </a:bodyPr>
          <a:lstStyle/>
          <a:p>
            <a:r>
              <a:rPr lang="en-GB" dirty="0"/>
              <a:t>Parameter Settings for Different Tasks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B68525-626D-B8FE-6348-D73D8E059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14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FBC0475-8890-0ED0-86EF-F0F5ABBB64F3}"/>
              </a:ext>
            </a:extLst>
          </p:cNvPr>
          <p:cNvGraphicFramePr>
            <a:graphicFrameLocks noGrp="1"/>
          </p:cNvGraphicFramePr>
          <p:nvPr>
            <p:ph sz="quarter" idx="12"/>
          </p:nvPr>
        </p:nvGraphicFramePr>
        <p:xfrm>
          <a:off x="241300" y="1443038"/>
          <a:ext cx="117348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6367">
                  <a:extLst>
                    <a:ext uri="{9D8B030D-6E8A-4147-A177-3AD203B41FA5}">
                      <a16:colId xmlns:a16="http://schemas.microsoft.com/office/drawing/2014/main" val="477180652"/>
                    </a:ext>
                  </a:extLst>
                </a:gridCol>
                <a:gridCol w="8208433">
                  <a:extLst>
                    <a:ext uri="{9D8B030D-6E8A-4147-A177-3AD203B41FA5}">
                      <a16:colId xmlns:a16="http://schemas.microsoft.com/office/drawing/2014/main" val="1591233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Use Case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Recommended Parameters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753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Fact-Based Q&amp;A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temperature=0.0, </a:t>
                      </a:r>
                      <a:r>
                        <a:rPr lang="en-GB" dirty="0" err="1"/>
                        <a:t>top_p</a:t>
                      </a:r>
                      <a:r>
                        <a:rPr lang="en-GB" dirty="0"/>
                        <a:t>=0.5, </a:t>
                      </a:r>
                      <a:r>
                        <a:rPr lang="en-GB" dirty="0" err="1"/>
                        <a:t>max_tokens</a:t>
                      </a:r>
                      <a:r>
                        <a:rPr lang="en-GB" dirty="0"/>
                        <a:t>=150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007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Creative Writing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temperature=0.9, </a:t>
                      </a:r>
                      <a:r>
                        <a:rPr lang="en-GB" dirty="0" err="1"/>
                        <a:t>top_p</a:t>
                      </a:r>
                      <a:r>
                        <a:rPr lang="en-GB" dirty="0"/>
                        <a:t>=1.0, </a:t>
                      </a:r>
                      <a:r>
                        <a:rPr lang="en-GB" dirty="0" err="1"/>
                        <a:t>max_tokens</a:t>
                      </a:r>
                      <a:r>
                        <a:rPr lang="en-GB" dirty="0"/>
                        <a:t>=500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895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Summarization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temperature=0.3, </a:t>
                      </a:r>
                      <a:r>
                        <a:rPr lang="en-GB" dirty="0" err="1"/>
                        <a:t>top_p</a:t>
                      </a:r>
                      <a:r>
                        <a:rPr lang="en-GB" dirty="0"/>
                        <a:t>=0.8, </a:t>
                      </a:r>
                      <a:r>
                        <a:rPr lang="en-GB" dirty="0" err="1"/>
                        <a:t>max_tokens</a:t>
                      </a:r>
                      <a:r>
                        <a:rPr lang="en-GB" dirty="0"/>
                        <a:t>=250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8797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Conversational AI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temperature=0.7, </a:t>
                      </a:r>
                      <a:r>
                        <a:rPr lang="en-GB" dirty="0" err="1"/>
                        <a:t>top_p</a:t>
                      </a:r>
                      <a:r>
                        <a:rPr lang="en-GB" dirty="0"/>
                        <a:t>=0.9, </a:t>
                      </a:r>
                      <a:r>
                        <a:rPr lang="en-GB" dirty="0" err="1"/>
                        <a:t>max_tokens</a:t>
                      </a:r>
                      <a:r>
                        <a:rPr lang="en-GB" dirty="0"/>
                        <a:t>=150, </a:t>
                      </a:r>
                      <a:r>
                        <a:rPr lang="en-GB" dirty="0" err="1"/>
                        <a:t>presence_penalty</a:t>
                      </a:r>
                      <a:r>
                        <a:rPr lang="en-GB" dirty="0"/>
                        <a:t>=0.6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1513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Structured Data Extraction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temperature=0.1, </a:t>
                      </a:r>
                      <a:r>
                        <a:rPr lang="en-GB" dirty="0" err="1"/>
                        <a:t>top_p</a:t>
                      </a:r>
                      <a:r>
                        <a:rPr lang="en-GB" dirty="0"/>
                        <a:t>=0.5, </a:t>
                      </a:r>
                      <a:r>
                        <a:rPr lang="en-GB" dirty="0" err="1"/>
                        <a:t>max_tokens</a:t>
                      </a:r>
                      <a:r>
                        <a:rPr lang="en-GB" dirty="0"/>
                        <a:t>=100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43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68074D1-5EDE-66B7-CFB6-686B318152DC}"/>
              </a:ext>
            </a:extLst>
          </p:cNvPr>
          <p:cNvSpPr txBox="1"/>
          <p:nvPr/>
        </p:nvSpPr>
        <p:spPr>
          <a:xfrm>
            <a:off x="240631" y="4768631"/>
            <a:ext cx="11521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📌 </a:t>
            </a:r>
            <a:r>
              <a:rPr lang="en-GB" b="1" dirty="0"/>
              <a:t>Key Takeaway:</a:t>
            </a:r>
            <a:br>
              <a:rPr lang="en-GB" dirty="0"/>
            </a:br>
            <a:r>
              <a:rPr lang="en-GB" b="1" dirty="0"/>
              <a:t>Tuning parameters aligns the model output with specific needs (accuracy, creativity, conciseness, etc.).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553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A4E6B-3518-05BD-110F-2FA858509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448800" cy="1028700"/>
          </a:xfrm>
        </p:spPr>
        <p:txBody>
          <a:bodyPr>
            <a:normAutofit/>
          </a:bodyPr>
          <a:lstStyle/>
          <a:p>
            <a:r>
              <a:rPr lang="en-GB" dirty="0"/>
              <a:t>Effects of Changing Temperature &amp; Top-P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7024B1-428C-511E-CFC2-E1815E62C7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8FB4CE90-470A-43E3-A052-3E8AD880B4A5}" type="slidenum">
              <a:rPr lang="en-US" smtClean="0"/>
              <a:pPr algn="r"/>
              <a:t>15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76C84A-60AB-0332-6785-ED26EDF813A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41300" y="1443038"/>
            <a:ext cx="11734800" cy="453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🔍 </a:t>
            </a:r>
            <a:r>
              <a:rPr lang="en-GB" b="1" dirty="0"/>
              <a:t>Scenario:</a:t>
            </a:r>
            <a:r>
              <a:rPr lang="en-GB" dirty="0"/>
              <a:t> </a:t>
            </a:r>
            <a:r>
              <a:rPr lang="en-GB" i="1" dirty="0"/>
              <a:t>Asking OpenAI: "Tell me an interesting fact about space.”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CB47B91-8887-2F9A-8F63-B102B1AB24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577535"/>
              </p:ext>
            </p:extLst>
          </p:nvPr>
        </p:nvGraphicFramePr>
        <p:xfrm>
          <a:off x="472737" y="2041255"/>
          <a:ext cx="11246526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6436">
                  <a:extLst>
                    <a:ext uri="{9D8B030D-6E8A-4147-A177-3AD203B41FA5}">
                      <a16:colId xmlns:a16="http://schemas.microsoft.com/office/drawing/2014/main" val="836014544"/>
                    </a:ext>
                  </a:extLst>
                </a:gridCol>
                <a:gridCol w="8710090">
                  <a:extLst>
                    <a:ext uri="{9D8B030D-6E8A-4147-A177-3AD203B41FA5}">
                      <a16:colId xmlns:a16="http://schemas.microsoft.com/office/drawing/2014/main" val="3614760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Parameter Setting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Expected Response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578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temperature=0.0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i="1" dirty="0"/>
                        <a:t>"The speed of light in a vacuum is approximately 299,792 </a:t>
                      </a:r>
                      <a:r>
                        <a:rPr lang="en-GB" i="1" dirty="0" err="1"/>
                        <a:t>kilometers</a:t>
                      </a:r>
                      <a:r>
                        <a:rPr lang="en-GB" i="1" dirty="0"/>
                        <a:t> per second."</a:t>
                      </a:r>
                      <a:r>
                        <a:rPr lang="en-GB" dirty="0"/>
                        <a:t> (Strict factual answer)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0891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temperature=0.9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i="1" dirty="0"/>
                        <a:t>"Did you know that a day on Venus is longer than a year on Venus?"</a:t>
                      </a:r>
                      <a:r>
                        <a:rPr lang="en-GB" dirty="0"/>
                        <a:t> (More unusual/interesting fact)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665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top_p</a:t>
                      </a:r>
                      <a:r>
                        <a:rPr lang="en-GB" dirty="0"/>
                        <a:t>=0.5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i="1" dirty="0"/>
                        <a:t>"There are over 100 billion galaxies in the observable universe."</a:t>
                      </a:r>
                      <a:r>
                        <a:rPr lang="en-GB" dirty="0"/>
                        <a:t> (More direct fact)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690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top_p</a:t>
                      </a:r>
                      <a:r>
                        <a:rPr lang="en-GB" dirty="0"/>
                        <a:t>=1.0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i="1" dirty="0"/>
                        <a:t>"Some scientists believe there might be unknown forms of life thriving in the extreme conditions of exoplanets!"</a:t>
                      </a:r>
                      <a:r>
                        <a:rPr lang="en-GB" dirty="0"/>
                        <a:t> (Diverse and speculative fact)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04175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F8A8E44-6DD6-79E9-C7BB-4BE41C484D5E}"/>
              </a:ext>
            </a:extLst>
          </p:cNvPr>
          <p:cNvSpPr txBox="1"/>
          <p:nvPr/>
        </p:nvSpPr>
        <p:spPr>
          <a:xfrm>
            <a:off x="240631" y="5091796"/>
            <a:ext cx="105934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📌 </a:t>
            </a:r>
            <a:r>
              <a:rPr lang="en-GB" b="1" dirty="0"/>
              <a:t>Key Takeaway:</a:t>
            </a:r>
            <a:br>
              <a:rPr lang="en-GB" dirty="0"/>
            </a:br>
            <a:r>
              <a:rPr lang="en-GB" b="1" dirty="0"/>
              <a:t>Higher temperature and </a:t>
            </a:r>
            <a:r>
              <a:rPr lang="en-GB" b="1" dirty="0" err="1"/>
              <a:t>top_p</a:t>
            </a:r>
            <a:r>
              <a:rPr lang="en-GB" b="1" dirty="0"/>
              <a:t> values increase creativity, while lower values improve precision.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867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F77F3-6777-C743-7FF2-59D5BF8DE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969"/>
            <a:ext cx="7886700" cy="993170"/>
          </a:xfrm>
        </p:spPr>
        <p:txBody>
          <a:bodyPr/>
          <a:lstStyle/>
          <a:p>
            <a:r>
              <a:rPr lang="en-GB" i="1" dirty="0"/>
              <a:t>Fine-Tuning LLM Outputs Effectively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1B0D90-0E37-62D8-F8FC-F2C6962AE9E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0394" y="1075624"/>
            <a:ext cx="11734800" cy="4706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✅ </a:t>
            </a:r>
            <a:r>
              <a:rPr lang="en-GB" b="1" dirty="0"/>
              <a:t>Start with Defaults &amp; Adjust Gradually</a:t>
            </a:r>
            <a:endParaRPr lang="en-GB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OpenAI defaults work well for most cases; tweak based on observed </a:t>
            </a:r>
            <a:r>
              <a:rPr lang="en-GB" dirty="0" err="1"/>
              <a:t>behavior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✅ </a:t>
            </a:r>
            <a:r>
              <a:rPr lang="en-GB" b="1" dirty="0"/>
              <a:t>Use Low temperature for Factual Tasks</a:t>
            </a:r>
            <a:endParaRPr lang="en-GB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Set temperature=0.0 for reliability (e.g., financial reports, legal summaries).</a:t>
            </a:r>
          </a:p>
          <a:p>
            <a:pPr marL="0" indent="0">
              <a:buNone/>
            </a:pPr>
            <a:r>
              <a:rPr lang="en-GB" dirty="0"/>
              <a:t>✅ </a:t>
            </a:r>
            <a:r>
              <a:rPr lang="en-GB" b="1" dirty="0"/>
              <a:t>Limit Response Length (</a:t>
            </a:r>
            <a:r>
              <a:rPr lang="en-GB" b="1" dirty="0" err="1"/>
              <a:t>max_tokens</a:t>
            </a:r>
            <a:r>
              <a:rPr lang="en-GB" b="1" dirty="0"/>
              <a:t>)</a:t>
            </a:r>
            <a:endParaRPr lang="en-GB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Helps manage API costs and avoids excessively verbose responses.</a:t>
            </a:r>
          </a:p>
          <a:p>
            <a:pPr marL="0" indent="0">
              <a:buNone/>
            </a:pPr>
            <a:r>
              <a:rPr lang="en-GB" dirty="0"/>
              <a:t>✅ </a:t>
            </a:r>
            <a:r>
              <a:rPr lang="en-GB" b="1" dirty="0"/>
              <a:t>Use </a:t>
            </a:r>
            <a:r>
              <a:rPr lang="en-GB" b="1" dirty="0" err="1"/>
              <a:t>frequency_penalty</a:t>
            </a:r>
            <a:r>
              <a:rPr lang="en-GB" b="1" dirty="0"/>
              <a:t> to Reduce Repetition</a:t>
            </a:r>
            <a:endParaRPr lang="en-GB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Good for avoiding redundant answers in long outputs.</a:t>
            </a:r>
          </a:p>
          <a:p>
            <a:pPr marL="0" indent="0">
              <a:buNone/>
            </a:pPr>
            <a:r>
              <a:rPr lang="en-GB" dirty="0"/>
              <a:t>✅ </a:t>
            </a:r>
            <a:r>
              <a:rPr lang="en-GB" b="1" dirty="0"/>
              <a:t>Balance temperature and </a:t>
            </a:r>
            <a:r>
              <a:rPr lang="en-GB" b="1" dirty="0" err="1"/>
              <a:t>top_p</a:t>
            </a:r>
            <a:endParaRPr lang="en-GB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Avoid setting </a:t>
            </a:r>
            <a:r>
              <a:rPr lang="en-GB" b="1" dirty="0"/>
              <a:t>both high</a:t>
            </a:r>
            <a:r>
              <a:rPr lang="en-GB" dirty="0"/>
              <a:t>—use one or the other to fine-tune randomness.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326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B8C09-A104-F5C2-C633-193B7AD2E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AF7A5-FEB7-987E-16D4-9760FDAC2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27393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F3C49-13F3-47BA-6DC8-1EEB0B11A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3DE6A-7995-B855-9EDC-2E7741C82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651769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B1025-D0A3-EAB0-BEC7-099A83887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Yellow question mark">
            <a:extLst>
              <a:ext uri="{FF2B5EF4-FFF2-40B4-BE49-F238E27FC236}">
                <a16:creationId xmlns:a16="http://schemas.microsoft.com/office/drawing/2014/main" id="{BC692157-0CF2-F5B7-3342-24FC1EB8FA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>
            <a:fillRect/>
          </a:stretch>
        </p:blipFill>
        <p:spPr>
          <a:xfrm>
            <a:off x="-2" y="10"/>
            <a:ext cx="12192002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33D48D-A732-0271-D0A1-8DF337828B0C}"/>
              </a:ext>
            </a:extLst>
          </p:cNvPr>
          <p:cNvSpPr txBox="1">
            <a:spLocks/>
          </p:cNvSpPr>
          <p:nvPr/>
        </p:nvSpPr>
        <p:spPr>
          <a:xfrm>
            <a:off x="1003494" y="5451471"/>
            <a:ext cx="10185009" cy="6723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3600"/>
              <a:t>Questions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34FF3A32-385F-E2CA-1F65-969736DC19A1}"/>
              </a:ext>
            </a:extLst>
          </p:cNvPr>
          <p:cNvSpPr txBox="1">
            <a:spLocks/>
          </p:cNvSpPr>
          <p:nvPr/>
        </p:nvSpPr>
        <p:spPr>
          <a:xfrm>
            <a:off x="1938996" y="6155084"/>
            <a:ext cx="8314005" cy="4426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1000"/>
              </a:spcBef>
              <a:buSzPct val="80000"/>
            </a:pPr>
            <a:r>
              <a:rPr lang="en-US" sz="1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30279272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34</TotalTime>
  <Words>1931</Words>
  <Application>Microsoft Macintosh PowerPoint</Application>
  <PresentationFormat>Widescreen</PresentationFormat>
  <Paragraphs>226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Arial</vt:lpstr>
      <vt:lpstr>Calibri</vt:lpstr>
      <vt:lpstr>Calibri Light</vt:lpstr>
      <vt:lpstr>Rockwell</vt:lpstr>
      <vt:lpstr>Wingdings</vt:lpstr>
      <vt:lpstr>Atlas</vt:lpstr>
      <vt:lpstr>Querying LLMs with Retrieved Data</vt:lpstr>
      <vt:lpstr>PowerPoint Presentation</vt:lpstr>
      <vt:lpstr>Plan for the session</vt:lpstr>
      <vt:lpstr>How do we interact with LLMs?</vt:lpstr>
      <vt:lpstr>Using APIs to Query LLMs</vt:lpstr>
      <vt:lpstr>Demo</vt:lpstr>
      <vt:lpstr>Common Challenges in LLM Querying</vt:lpstr>
      <vt:lpstr>Enhancing LLM Queries with Retrieved Data (RAG)</vt:lpstr>
      <vt:lpstr>Demo</vt:lpstr>
      <vt:lpstr>Optimizing Vector-Augmented LLM Queries</vt:lpstr>
      <vt:lpstr>Troubleshooting Vector Retrieval &amp; LLM Augmentation</vt:lpstr>
      <vt:lpstr>Tuning LLM Responses with Parameters</vt:lpstr>
      <vt:lpstr>Core Parameters That Affect Response Behavior</vt:lpstr>
      <vt:lpstr>Parameter Settings for Different Tasks</vt:lpstr>
      <vt:lpstr>Effects of Changing Temperature &amp; Top-P</vt:lpstr>
      <vt:lpstr>Fine-Tuning LLM Outputs Effectively</vt:lpstr>
      <vt:lpstr>Demo</vt:lpstr>
      <vt:lpstr>Lab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Cunningham</dc:creator>
  <cp:lastModifiedBy>Kevin Cunningham</cp:lastModifiedBy>
  <cp:revision>7</cp:revision>
  <dcterms:created xsi:type="dcterms:W3CDTF">2025-06-26T06:06:10Z</dcterms:created>
  <dcterms:modified xsi:type="dcterms:W3CDTF">2026-07-28T10:21:43Z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e846ac8-2f35-49ff-a0d4-7a2bca5159e6_Enabled">
    <vt:lpwstr>true</vt:lpwstr>
  </property>
  <property fmtid="{D5CDD505-2E9C-101B-9397-08002B2CF9AE}" pid="3" name="MSIP_Label_3e846ac8-2f35-49ff-a0d4-7a2bca5159e6_SetDate">
    <vt:lpwstr>2026-07-28T10:21:43Z</vt:lpwstr>
  </property>
  <property fmtid="{D5CDD505-2E9C-101B-9397-08002B2CF9AE}" pid="4" name="MSIP_Label_3e846ac8-2f35-49ff-a0d4-7a2bca5159e6_Method">
    <vt:lpwstr>Standard</vt:lpwstr>
  </property>
  <property fmtid="{D5CDD505-2E9C-101B-9397-08002B2CF9AE}" pid="5" name="MSIP_Label_3e846ac8-2f35-49ff-a0d4-7a2bca5159e6_Name">
    <vt:lpwstr>Public</vt:lpwstr>
  </property>
  <property fmtid="{D5CDD505-2E9C-101B-9397-08002B2CF9AE}" pid="6" name="MSIP_Label_3e846ac8-2f35-49ff-a0d4-7a2bca5159e6_SiteId">
    <vt:lpwstr>c833c1d6-dac1-4651-a837-b02f69588349</vt:lpwstr>
  </property>
  <property fmtid="{D5CDD505-2E9C-101B-9397-08002B2CF9AE}" pid="7" name="MSIP_Label_3e846ac8-2f35-49ff-a0d4-7a2bca5159e6_ActionId">
    <vt:lpwstr>4aa23987-b6f4-4dd8-8ef5-719ddca1a319</vt:lpwstr>
  </property>
  <property fmtid="{D5CDD505-2E9C-101B-9397-08002B2CF9AE}" pid="8" name="MSIP_Label_3e846ac8-2f35-49ff-a0d4-7a2bca5159e6_ContentBits">
    <vt:lpwstr>0</vt:lpwstr>
  </property>
  <property fmtid="{D5CDD505-2E9C-101B-9397-08002B2CF9AE}" pid="9" name="MSIP_Label_3e846ac8-2f35-49ff-a0d4-7a2bca5159e6_Tag">
    <vt:lpwstr>50, 3, 0, 1</vt:lpwstr>
  </property>
</Properties>
</file>