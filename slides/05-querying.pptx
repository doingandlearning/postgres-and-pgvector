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9" r:id="rId1"/>
  </p:sldMasterIdLst>
  <p:notesMasterIdLst>
    <p:notesMasterId r:id="rId13"/>
  </p:notesMasterIdLst>
  <p:sldIdLst>
    <p:sldId id="256" r:id="rId2"/>
    <p:sldId id="259" r:id="rId3"/>
    <p:sldId id="258" r:id="rId4"/>
    <p:sldId id="331" r:id="rId5"/>
    <p:sldId id="333" r:id="rId6"/>
    <p:sldId id="332" r:id="rId7"/>
    <p:sldId id="334" r:id="rId8"/>
    <p:sldId id="326" r:id="rId9"/>
    <p:sldId id="330" r:id="rId10"/>
    <p:sldId id="267" r:id="rId11"/>
    <p:sldId id="33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86"/>
    <p:restoredTop sz="94659"/>
  </p:normalViewPr>
  <p:slideViewPr>
    <p:cSldViewPr snapToGrid="0">
      <p:cViewPr varScale="1">
        <p:scale>
          <a:sx n="125" d="100"/>
          <a:sy n="125" d="100"/>
        </p:scale>
        <p:origin x="176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DA2908-672F-DC48-8CAD-AEE711B947DA}" type="datetimeFigureOut">
              <a:rPr lang="en-US" smtClean="0"/>
              <a:t>7/27/26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6689AC-D979-8F40-9576-8927489825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6627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cosine similarity is widely used in various fields, including machine learning and information retrieval.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Highlight its effectiveness in high-dimensional spaces, such as text documents represented by word embeddings.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Mention that while cosine similarity measures orientation, it does not account for vector magnitude, which can be a consideration in certain applications.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6D64D0-2C69-4527-83D1-E8DFDFF7AD0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7773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1. Cosine Similarity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What it does:</a:t>
            </a:r>
            <a:r>
              <a:rPr lang="en-GB" dirty="0"/>
              <a:t> Measures the cosine of the angle between two vectors, focusing on their direction, not magnitude.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Range:</a:t>
            </a:r>
            <a:r>
              <a:rPr lang="en-GB" dirty="0"/>
              <a:t> [-1, 1]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/>
              <a:t>1</a:t>
            </a:r>
            <a:r>
              <a:rPr lang="en-GB" dirty="0"/>
              <a:t>: Vectors point in the same direction.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/>
              <a:t>0</a:t>
            </a:r>
            <a:r>
              <a:rPr lang="en-GB" dirty="0"/>
              <a:t>: Vectors are orthogonal (no similarity).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/>
              <a:t>-1</a:t>
            </a:r>
            <a:r>
              <a:rPr lang="en-GB" dirty="0"/>
              <a:t>: Vectors point in opposite directions.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Common Usage:</a:t>
            </a:r>
            <a:r>
              <a:rPr lang="en-GB" dirty="0"/>
              <a:t> Text embeddings (e.g., word/document similarity), high-dimensional spaces.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SQL Operator in </a:t>
            </a:r>
            <a:r>
              <a:rPr lang="en-GB" b="1" dirty="0" err="1"/>
              <a:t>pgvector</a:t>
            </a:r>
            <a:r>
              <a:rPr lang="en-GB" b="1" dirty="0"/>
              <a:t>:</a:t>
            </a:r>
            <a:r>
              <a:rPr lang="en-GB" dirty="0"/>
              <a:t> &lt;=&gt;</a:t>
            </a:r>
          </a:p>
          <a:p>
            <a:r>
              <a:rPr lang="en-GB" b="1" dirty="0"/>
              <a:t>2. Euclidean Distance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What it does:</a:t>
            </a:r>
            <a:r>
              <a:rPr lang="en-GB" dirty="0"/>
              <a:t> Measures the straight-line distance between two vectors in a multidimensional space.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Formula:</a:t>
            </a:r>
            <a:r>
              <a:rPr lang="en-GB" dirty="0"/>
              <a:t> Euclidean Distance=∑</a:t>
            </a:r>
            <a:r>
              <a:rPr lang="en-GB" dirty="0" err="1"/>
              <a:t>i</a:t>
            </a:r>
            <a:r>
              <a:rPr lang="en-GB" dirty="0"/>
              <a:t>=1n(ai−bi)2\text{Euclidean Distance} = \sqrt{\sum_{</a:t>
            </a:r>
            <a:r>
              <a:rPr lang="en-GB" dirty="0" err="1"/>
              <a:t>i</a:t>
            </a:r>
            <a:r>
              <a:rPr lang="en-GB" dirty="0"/>
              <a:t>=1}^n (</a:t>
            </a:r>
            <a:r>
              <a:rPr lang="en-GB" dirty="0" err="1"/>
              <a:t>a_i</a:t>
            </a:r>
            <a:r>
              <a:rPr lang="en-GB" dirty="0"/>
              <a:t> - </a:t>
            </a:r>
            <a:r>
              <a:rPr lang="en-GB" dirty="0" err="1"/>
              <a:t>b_i</a:t>
            </a:r>
            <a:r>
              <a:rPr lang="en-GB" dirty="0"/>
              <a:t>)^2}Euclidean Distance=</a:t>
            </a:r>
            <a:r>
              <a:rPr lang="en-GB" dirty="0" err="1"/>
              <a:t>i</a:t>
            </a:r>
            <a:r>
              <a:rPr lang="en-GB" dirty="0"/>
              <a:t>=1∑n​(ai​−bi​)2​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Range:</a:t>
            </a:r>
            <a:r>
              <a:rPr lang="en-GB" dirty="0"/>
              <a:t> [0, ∞] (Lower is more similar).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Common Usage:</a:t>
            </a:r>
            <a:r>
              <a:rPr lang="en-GB" dirty="0"/>
              <a:t> Image processing, clustering, spatial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SQL Operator in </a:t>
            </a:r>
            <a:r>
              <a:rPr lang="en-GB" b="1" dirty="0" err="1"/>
              <a:t>pgvector</a:t>
            </a:r>
            <a:r>
              <a:rPr lang="en-GB" b="1" dirty="0"/>
              <a:t>:</a:t>
            </a:r>
            <a:r>
              <a:rPr lang="en-GB" dirty="0"/>
              <a:t> &lt;-&gt;</a:t>
            </a:r>
          </a:p>
          <a:p>
            <a:r>
              <a:rPr lang="en-GB" b="1" dirty="0"/>
              <a:t>3. Inner Product (Dot Product)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What it does:</a:t>
            </a:r>
            <a:r>
              <a:rPr lang="en-GB" dirty="0"/>
              <a:t> Measures the degree of overlap between two vectors, considering both magnitude and direction.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Formula:</a:t>
            </a:r>
            <a:r>
              <a:rPr lang="en-GB" dirty="0"/>
              <a:t> Inner Product=∑</a:t>
            </a:r>
            <a:r>
              <a:rPr lang="en-GB" dirty="0" err="1"/>
              <a:t>i</a:t>
            </a:r>
            <a:r>
              <a:rPr lang="en-GB" dirty="0"/>
              <a:t>=1nai⋅bi\text{Inner Product} = \sum_{</a:t>
            </a:r>
            <a:r>
              <a:rPr lang="en-GB" dirty="0" err="1"/>
              <a:t>i</a:t>
            </a:r>
            <a:r>
              <a:rPr lang="en-GB" dirty="0"/>
              <a:t>=1}^n </a:t>
            </a:r>
            <a:r>
              <a:rPr lang="en-GB" dirty="0" err="1"/>
              <a:t>a_i</a:t>
            </a:r>
            <a:r>
              <a:rPr lang="en-GB" dirty="0"/>
              <a:t> \</a:t>
            </a:r>
            <a:r>
              <a:rPr lang="en-GB" dirty="0" err="1"/>
              <a:t>cdot</a:t>
            </a:r>
            <a:r>
              <a:rPr lang="en-GB" dirty="0"/>
              <a:t> </a:t>
            </a:r>
            <a:r>
              <a:rPr lang="en-GB" dirty="0" err="1"/>
              <a:t>b_iInner</a:t>
            </a:r>
            <a:r>
              <a:rPr lang="en-GB" dirty="0"/>
              <a:t> Product=</a:t>
            </a:r>
            <a:r>
              <a:rPr lang="en-GB" dirty="0" err="1"/>
              <a:t>i</a:t>
            </a:r>
            <a:r>
              <a:rPr lang="en-GB" dirty="0"/>
              <a:t>=1∑n​ai​⋅bi​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Range:</a:t>
            </a:r>
            <a:r>
              <a:rPr lang="en-GB" dirty="0"/>
              <a:t> [-∞, ∞] (Higher is more similar).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Common Usage:</a:t>
            </a:r>
            <a:r>
              <a:rPr lang="en-GB" dirty="0"/>
              <a:t> Recommendation systems, ranking items, scenarios where magnitude matters.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SQL Operator in </a:t>
            </a:r>
            <a:r>
              <a:rPr lang="en-GB" b="1" dirty="0" err="1"/>
              <a:t>pgvector</a:t>
            </a:r>
            <a:r>
              <a:rPr lang="en-GB" b="1" dirty="0"/>
              <a:t>:</a:t>
            </a:r>
            <a:r>
              <a:rPr lang="en-GB" dirty="0"/>
              <a:t> &lt;#&gt;</a:t>
            </a:r>
          </a:p>
          <a:p>
            <a:r>
              <a:rPr lang="en-GB" b="1" dirty="0"/>
              <a:t>4. Manhattan Distance (L1 Norm)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What it does:</a:t>
            </a:r>
            <a:r>
              <a:rPr lang="en-GB" dirty="0"/>
              <a:t> Computes the sum of the absolute differences between vector components.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Formula:</a:t>
            </a:r>
            <a:r>
              <a:rPr lang="en-GB" dirty="0"/>
              <a:t> Manhattan Distance=∑</a:t>
            </a:r>
            <a:r>
              <a:rPr lang="en-GB" dirty="0" err="1"/>
              <a:t>i</a:t>
            </a:r>
            <a:r>
              <a:rPr lang="en-GB" dirty="0"/>
              <a:t>=1n∣ai−bi∣\text{Manhattan Distance} = \sum_{</a:t>
            </a:r>
            <a:r>
              <a:rPr lang="en-GB" dirty="0" err="1"/>
              <a:t>i</a:t>
            </a:r>
            <a:r>
              <a:rPr lang="en-GB" dirty="0"/>
              <a:t>=1}^n |</a:t>
            </a:r>
            <a:r>
              <a:rPr lang="en-GB" dirty="0" err="1"/>
              <a:t>a_i</a:t>
            </a:r>
            <a:r>
              <a:rPr lang="en-GB" dirty="0"/>
              <a:t> - </a:t>
            </a:r>
            <a:r>
              <a:rPr lang="en-GB" dirty="0" err="1"/>
              <a:t>b_i|Manhattan</a:t>
            </a:r>
            <a:r>
              <a:rPr lang="en-GB" dirty="0"/>
              <a:t> Distance=</a:t>
            </a:r>
            <a:r>
              <a:rPr lang="en-GB" dirty="0" err="1"/>
              <a:t>i</a:t>
            </a:r>
            <a:r>
              <a:rPr lang="en-GB" dirty="0"/>
              <a:t>=1∑n​∣ai​−bi​∣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Range:</a:t>
            </a:r>
            <a:r>
              <a:rPr lang="en-GB" dirty="0"/>
              <a:t> [0, ∞] (Lower is more similar).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Common Usage:</a:t>
            </a:r>
            <a:r>
              <a:rPr lang="en-GB" dirty="0"/>
              <a:t> Simpler datasets, when absolute differences are meaningful (e.g., tabular data).</a:t>
            </a:r>
          </a:p>
          <a:p>
            <a:r>
              <a:rPr lang="en-GB" b="1" dirty="0"/>
              <a:t>5. Jaccard Similarity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What it does:</a:t>
            </a:r>
            <a:r>
              <a:rPr lang="en-GB" dirty="0"/>
              <a:t> Measures the similarity between two sets by dividing the size of their intersection by the size of their union.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Formula:</a:t>
            </a:r>
            <a:r>
              <a:rPr lang="en-GB" dirty="0"/>
              <a:t> Jaccard Similarity=∣A∩B∣∣A∪B∣\text{Jaccard Similarity} = \frac{|A \cap B|}{|A \cup B|}Jaccard Similarity=∣A∪B∣∣A∩B∣​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Range:</a:t>
            </a:r>
            <a:r>
              <a:rPr lang="en-GB" dirty="0"/>
              <a:t> [0, 1] (Higher is more similar).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Common Usage:</a:t>
            </a:r>
            <a:r>
              <a:rPr lang="en-GB" dirty="0"/>
              <a:t> Sparse data, binary features, text comparisons (e.g., bag-of-words).</a:t>
            </a:r>
          </a:p>
          <a:p>
            <a:r>
              <a:rPr lang="en-GB" b="1" dirty="0"/>
              <a:t>6. Hamming Distance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What it does:</a:t>
            </a:r>
            <a:r>
              <a:rPr lang="en-GB" dirty="0"/>
              <a:t> Counts the number of positions where two vectors differ.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Range:</a:t>
            </a:r>
            <a:r>
              <a:rPr lang="en-GB" dirty="0"/>
              <a:t> [0, n] (Lower is more similar).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Common Usage:</a:t>
            </a:r>
            <a:r>
              <a:rPr lang="en-GB" dirty="0"/>
              <a:t> Binary data, error detection (e.g., DNA sequence comparison).</a:t>
            </a:r>
          </a:p>
          <a:p>
            <a:r>
              <a:rPr lang="en-GB" b="1" dirty="0"/>
              <a:t>7. </a:t>
            </a:r>
            <a:r>
              <a:rPr lang="en-GB" b="1" dirty="0" err="1"/>
              <a:t>Mahalanobis</a:t>
            </a:r>
            <a:r>
              <a:rPr lang="en-GB" b="1" dirty="0"/>
              <a:t> Distance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What it does:</a:t>
            </a:r>
            <a:r>
              <a:rPr lang="en-GB" dirty="0"/>
              <a:t> Measures the distance between a point and a distribution, considering correlations between variables.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Formula:</a:t>
            </a:r>
            <a:r>
              <a:rPr lang="en-GB" dirty="0"/>
              <a:t> </a:t>
            </a:r>
            <a:r>
              <a:rPr lang="en-GB" dirty="0" err="1"/>
              <a:t>Mahalanobis</a:t>
            </a:r>
            <a:r>
              <a:rPr lang="en-GB" dirty="0"/>
              <a:t> Distance=(x−</a:t>
            </a:r>
            <a:r>
              <a:rPr lang="el-GR" dirty="0"/>
              <a:t>μ)⊤Σ−1(</a:t>
            </a:r>
            <a:r>
              <a:rPr lang="en-GB" dirty="0"/>
              <a:t>x−</a:t>
            </a:r>
            <a:r>
              <a:rPr lang="el-GR" dirty="0"/>
              <a:t>μ)\</a:t>
            </a:r>
            <a:r>
              <a:rPr lang="en-GB" dirty="0"/>
              <a:t>text{</a:t>
            </a:r>
            <a:r>
              <a:rPr lang="en-GB" dirty="0" err="1"/>
              <a:t>Mahalanobis</a:t>
            </a:r>
            <a:r>
              <a:rPr lang="en-GB" dirty="0"/>
              <a:t> Distance} = \sqrt{(\</a:t>
            </a:r>
            <a:r>
              <a:rPr lang="en-GB" dirty="0" err="1"/>
              <a:t>mathbf</a:t>
            </a:r>
            <a:r>
              <a:rPr lang="en-GB" dirty="0"/>
              <a:t>{x} - \</a:t>
            </a:r>
            <a:r>
              <a:rPr lang="en-GB" dirty="0" err="1"/>
              <a:t>mathbf</a:t>
            </a:r>
            <a:r>
              <a:rPr lang="en-GB" dirty="0"/>
              <a:t>{\mu})^\top \</a:t>
            </a:r>
            <a:r>
              <a:rPr lang="en-GB" dirty="0" err="1"/>
              <a:t>mathbf</a:t>
            </a:r>
            <a:r>
              <a:rPr lang="en-GB" dirty="0"/>
              <a:t>{\Sigma}^{-1} (\</a:t>
            </a:r>
            <a:r>
              <a:rPr lang="en-GB" dirty="0" err="1"/>
              <a:t>mathbf</a:t>
            </a:r>
            <a:r>
              <a:rPr lang="en-GB" dirty="0"/>
              <a:t>{x} - \</a:t>
            </a:r>
            <a:r>
              <a:rPr lang="en-GB" dirty="0" err="1"/>
              <a:t>mathbf</a:t>
            </a:r>
            <a:r>
              <a:rPr lang="en-GB" dirty="0"/>
              <a:t>{\mu})}</a:t>
            </a:r>
            <a:r>
              <a:rPr lang="en-GB" dirty="0" err="1"/>
              <a:t>Mahalanobis</a:t>
            </a:r>
            <a:r>
              <a:rPr lang="en-GB" dirty="0"/>
              <a:t> Distance=(x−</a:t>
            </a:r>
            <a:r>
              <a:rPr lang="el-GR" dirty="0"/>
              <a:t>μ)⊤Σ−1(</a:t>
            </a:r>
            <a:r>
              <a:rPr lang="en-GB" dirty="0"/>
              <a:t>x−</a:t>
            </a:r>
            <a:r>
              <a:rPr lang="el-GR" dirty="0"/>
              <a:t>μ)​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Range:</a:t>
            </a:r>
            <a:r>
              <a:rPr lang="en-GB" dirty="0"/>
              <a:t> [0, ∞] (Lower is more similar).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Common Usage:</a:t>
            </a:r>
            <a:r>
              <a:rPr lang="en-GB" dirty="0"/>
              <a:t> Anomaly detection, multidimensional data with correlations.</a:t>
            </a:r>
          </a:p>
          <a:p>
            <a:r>
              <a:rPr lang="en-GB" b="1" dirty="0"/>
              <a:t>8. Pearson Correlation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What it does:</a:t>
            </a:r>
            <a:r>
              <a:rPr lang="en-GB" dirty="0"/>
              <a:t> Measures the linear correlation between two vectors.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Range:</a:t>
            </a:r>
            <a:r>
              <a:rPr lang="en-GB" dirty="0"/>
              <a:t> [-1, 1] (Higher absolute values are more correlated).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Common Usage:</a:t>
            </a:r>
            <a:r>
              <a:rPr lang="en-GB" dirty="0"/>
              <a:t> Time series data, when relationships between variables matter.</a:t>
            </a:r>
          </a:p>
          <a:p>
            <a:r>
              <a:rPr lang="en-GB" b="1" dirty="0"/>
              <a:t>Choosing the Right Similarity Metric: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High-Dimensional Data:</a:t>
            </a:r>
            <a:r>
              <a:rPr lang="en-GB" dirty="0"/>
              <a:t> Cosine similarity works well as it ignores magnitude differences.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Spatial Data:</a:t>
            </a:r>
            <a:r>
              <a:rPr lang="en-GB" dirty="0"/>
              <a:t> Euclidean distance is intuitive for geometric contexts.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Sparse Data:</a:t>
            </a:r>
            <a:r>
              <a:rPr lang="en-GB" dirty="0"/>
              <a:t> Jaccard similarity or Manhattan distance are preferred.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Dense Representations (e.g., embeddings):</a:t>
            </a:r>
            <a:r>
              <a:rPr lang="en-GB" dirty="0"/>
              <a:t> Cosine similarity, inner product, or Euclidean distance.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Correlated Data:</a:t>
            </a:r>
            <a:r>
              <a:rPr lang="en-GB" dirty="0"/>
              <a:t> </a:t>
            </a:r>
            <a:r>
              <a:rPr lang="en-GB" dirty="0" err="1"/>
              <a:t>Mahalanobis</a:t>
            </a:r>
            <a:r>
              <a:rPr lang="en-GB" dirty="0"/>
              <a:t> distance is more accurate when variables are interrelated.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6D64D0-2C69-4527-83D1-E8DFDFF7AD0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4077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Indexing vector data improves the performance of similarity searches by reducing the number of comparisons needed. Instead of performing a brute-force linear search across all vectors, an index allows the database to narrow down the search space efficiently.</a:t>
            </a:r>
            <a:endParaRPr lang="en-GB" b="1" dirty="0"/>
          </a:p>
          <a:p>
            <a:endParaRPr lang="en-GB" b="1" dirty="0"/>
          </a:p>
          <a:p>
            <a:r>
              <a:rPr lang="en-GB" b="1" dirty="0" err="1"/>
              <a:t>IVFFlat</a:t>
            </a:r>
            <a:r>
              <a:rPr lang="en-GB" dirty="0"/>
              <a:t> (Inverted File Index with Flat Quantization)</a:t>
            </a:r>
          </a:p>
          <a:p>
            <a:r>
              <a:rPr lang="en-GB" b="1" dirty="0"/>
              <a:t>HNSW</a:t>
            </a:r>
            <a:r>
              <a:rPr lang="en-GB" dirty="0"/>
              <a:t> (Hierarchical Navigable Small World Graph)</a:t>
            </a:r>
          </a:p>
          <a:p>
            <a:endParaRPr lang="en-GB" dirty="0"/>
          </a:p>
          <a:p>
            <a:pPr marL="171450" indent="-171450">
              <a:buFontTx/>
              <a:buChar char="-"/>
            </a:pPr>
            <a:r>
              <a:rPr lang="en-GB" dirty="0"/>
              <a:t>For HNSW the index is persisted to disc and loaded to ram on </a:t>
            </a:r>
            <a:r>
              <a:rPr lang="en-GB" dirty="0" err="1"/>
              <a:t>db</a:t>
            </a:r>
            <a:r>
              <a:rPr lang="en-GB" dirty="0"/>
              <a:t> restart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r>
              <a:rPr lang="en-GB" b="1" dirty="0"/>
              <a:t>Do I need to rebuild the index when new data is inserted?</a:t>
            </a:r>
          </a:p>
          <a:p>
            <a:r>
              <a:rPr lang="en-GB" b="1" dirty="0"/>
              <a:t>Answer:</a:t>
            </a:r>
            <a:br>
              <a:rPr lang="en-GB" dirty="0"/>
            </a:br>
            <a:r>
              <a:rPr lang="en-GB" dirty="0"/>
              <a:t>No, the index is automatically updated when new rows are inserted, updated, or deleted. However: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Frequent updates may slow down operations if the dataset is very large.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For bulk inserts, consider creating the index after the data is loaded to optimize index creation time.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r>
              <a:rPr lang="en-GB" b="1" dirty="0"/>
              <a:t>Are indexes persistent across database restarts?</a:t>
            </a:r>
          </a:p>
          <a:p>
            <a:r>
              <a:rPr lang="en-GB" b="1" dirty="0"/>
              <a:t>Answer:</a:t>
            </a:r>
            <a:br>
              <a:rPr lang="en-GB" dirty="0"/>
            </a:br>
            <a:r>
              <a:rPr lang="en-GB" dirty="0"/>
              <a:t>Yes, both </a:t>
            </a:r>
            <a:r>
              <a:rPr lang="en-GB" dirty="0" err="1"/>
              <a:t>IVFFlat</a:t>
            </a:r>
            <a:r>
              <a:rPr lang="en-GB" dirty="0"/>
              <a:t> and HNSW indexes are stored on disk and persist across database or container restarts. However, HNSW indexes are loaded into memory on first access after a restart, which may introduce a slight delay.</a:t>
            </a:r>
          </a:p>
          <a:p>
            <a:pPr marL="171450" indent="-171450">
              <a:buFontTx/>
              <a:buChar char="-"/>
            </a:pPr>
            <a:endParaRPr lang="en-GB" dirty="0"/>
          </a:p>
          <a:p>
            <a:r>
              <a:rPr lang="en-GB" b="1" dirty="0"/>
              <a:t>How can I tune </a:t>
            </a:r>
            <a:r>
              <a:rPr lang="en-GB" b="1" dirty="0" err="1"/>
              <a:t>IVFFlat</a:t>
            </a:r>
            <a:r>
              <a:rPr lang="en-GB" b="1" dirty="0"/>
              <a:t> for better performance?</a:t>
            </a:r>
          </a:p>
          <a:p>
            <a:r>
              <a:rPr lang="en-GB" b="1" dirty="0"/>
              <a:t>Answer: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lists Parameter: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Specifies the number of partitions (clusters) in the vector space.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More lists improve search accuracy but increase memory usage and index creation time.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/>
          </a:p>
          <a:p>
            <a:r>
              <a:rPr lang="en-GB" b="1" dirty="0"/>
              <a:t>How do I measure the performance of my index?</a:t>
            </a:r>
          </a:p>
          <a:p>
            <a:r>
              <a:rPr lang="en-GB" b="1" dirty="0"/>
              <a:t>Answer: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 EXPLAIN ANALYZE to measure query execution time.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Monitor resource usage (CPU, memory) during queries.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Compare query performance with and without the index to validate improvements.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r>
              <a:rPr lang="en-GB" b="1" dirty="0"/>
              <a:t>Are there any limitations to using vector indexes?</a:t>
            </a:r>
          </a:p>
          <a:p>
            <a:r>
              <a:rPr lang="en-GB" b="1" dirty="0"/>
              <a:t>Answer: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Vector indexes can consume significant memory (especially HNSW) for large datasets.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Index tuning (parameters like lists, M, and </a:t>
            </a:r>
            <a:r>
              <a:rPr lang="en-GB" dirty="0" err="1"/>
              <a:t>ef_search</a:t>
            </a:r>
            <a:r>
              <a:rPr lang="en-GB" dirty="0"/>
              <a:t>) requires experimentation based on the dataset.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Indexes add overhead during write operations (inserts, updates, deletes).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/>
          </a:p>
          <a:p>
            <a:endParaRPr lang="en-GB" b="1" dirty="0"/>
          </a:p>
          <a:p>
            <a:r>
              <a:rPr lang="en-GB" b="1" dirty="0"/>
              <a:t>How can I tune HNSW for better performance?</a:t>
            </a:r>
          </a:p>
          <a:p>
            <a:r>
              <a:rPr lang="en-GB" b="1" dirty="0"/>
              <a:t>Answer: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M Parameter: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Controls the number of edges per node in the graph. Higher M improves accuracy but increases memory usage.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ef_construction</a:t>
            </a:r>
            <a:r>
              <a:rPr lang="en-GB" b="1" dirty="0"/>
              <a:t> Parameter: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Determines the effort during index creation. Higher values improve recall but slow down index building.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ef_search</a:t>
            </a:r>
            <a:r>
              <a:rPr lang="en-GB" b="1" dirty="0"/>
              <a:t> Parameter: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Controls search accuracy. Higher values improve recall at the cost of slower searches.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/>
          </a:p>
          <a:p>
            <a:r>
              <a:rPr lang="en-GB" b="1" dirty="0"/>
              <a:t>How can I check if an index is being used in a query?</a:t>
            </a:r>
          </a:p>
          <a:p>
            <a:r>
              <a:rPr lang="en-GB" b="1" dirty="0"/>
              <a:t>Answer:</a:t>
            </a:r>
            <a:br>
              <a:rPr lang="en-GB" dirty="0"/>
            </a:br>
            <a:r>
              <a:rPr lang="en-GB" dirty="0"/>
              <a:t>Use the EXPLAIN or EXPLAIN ANALYZE command to check the query execution plan: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/>
          </a:p>
          <a:p>
            <a:r>
              <a:rPr lang="en-GB" b="1" dirty="0"/>
              <a:t>Can I drop and recreate an index without impacting the data?</a:t>
            </a:r>
          </a:p>
          <a:p>
            <a:r>
              <a:rPr lang="en-GB" b="1" dirty="0"/>
              <a:t>Answer:</a:t>
            </a:r>
            <a:br>
              <a:rPr lang="en-GB" dirty="0"/>
            </a:br>
            <a:r>
              <a:rPr lang="en-GB" dirty="0"/>
              <a:t>Yes, you can safely drop and recreate an index without modifying the underlying data: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171450" indent="-171450">
              <a:buFontTx/>
              <a:buChar char="-"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6D64D0-2C69-4527-83D1-E8DFDFF7AD0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6447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9" name="Rectangle 38"/>
            <p:cNvSpPr/>
            <p:nvPr/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9236" y="2075504"/>
            <a:ext cx="8679915" cy="1748729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5400" spc="-150"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9237" y="3906266"/>
            <a:ext cx="8673427" cy="1322587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F6CCBF3A-D7FB-4B97-8FD5-6FFB20CB1E8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89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7" name="Group 26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8" name="Rectangle 27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49925"/>
            <a:ext cx="3498979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8447" y="803186"/>
            <a:ext cx="6281873" cy="5248622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182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7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3259545" y="1186483"/>
            <a:ext cx="5666145" cy="4477933"/>
            <a:chOff x="3259545" y="1186483"/>
            <a:chExt cx="5666145" cy="4477933"/>
          </a:xfrm>
        </p:grpSpPr>
        <p:sp>
          <p:nvSpPr>
            <p:cNvPr id="99" name="Rectangle 98"/>
            <p:cNvSpPr/>
            <p:nvPr/>
          </p:nvSpPr>
          <p:spPr>
            <a:xfrm>
              <a:off x="3259545" y="1186483"/>
              <a:ext cx="5657881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" name="Rectangle 100"/>
            <p:cNvSpPr/>
            <p:nvPr/>
          </p:nvSpPr>
          <p:spPr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4216" y="2074730"/>
            <a:ext cx="5490224" cy="1689390"/>
          </a:xfrm>
        </p:spPr>
        <p:txBody>
          <a:bodyPr bIns="0" anchor="b">
            <a:normAutofit/>
          </a:bodyPr>
          <a:lstStyle>
            <a:lvl1pPr algn="ctr">
              <a:defRPr sz="4400"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44215" y="3846851"/>
            <a:ext cx="5490223" cy="1383770"/>
          </a:xfrm>
        </p:spPr>
        <p:txBody>
          <a:bodyPr tIns="0"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F6CCBF3A-D7FB-4B97-8FD5-6FFB20CB1E8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006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3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0" name="Rectangle 59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0" y="2339669"/>
            <a:ext cx="3500828" cy="2470065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20878" y="803187"/>
            <a:ext cx="6269591" cy="238265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8447" y="3672162"/>
            <a:ext cx="6272022" cy="238358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F6CCBF3A-D7FB-4B97-8FD5-6FFB20CB1E8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955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40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1" name="Group 6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2" name="Rectangle 6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Rectangle 63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1" y="2363915"/>
            <a:ext cx="3500828" cy="2460497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25137" y="803185"/>
            <a:ext cx="6265088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5305" y="1488985"/>
            <a:ext cx="6264350" cy="169685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18653" y="3665887"/>
            <a:ext cx="6264414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18447" y="4351687"/>
            <a:ext cx="6265588" cy="17040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F6CCBF3A-D7FB-4B97-8FD5-6FFB20CB1E8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815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4" name="Group 23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5" name="Rectangle 24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620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F6CCBF3A-D7FB-4B97-8FD5-6FFB20CB1E8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588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5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6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1" name="Group 2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2" name="Rectangle 2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52026"/>
            <a:ext cx="3501197" cy="1223298"/>
          </a:xfrm>
        </p:spPr>
        <p:txBody>
          <a:bodyPr bIns="0" anchor="b">
            <a:noAutofit/>
          </a:bodyPr>
          <a:lstStyle>
            <a:lvl1pPr algn="ctr">
              <a:defRPr sz="3200"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983" y="802809"/>
            <a:ext cx="6275035" cy="5249940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8631" y="3580186"/>
            <a:ext cx="3501197" cy="1221164"/>
          </a:xfrm>
        </p:spPr>
        <p:txBody>
          <a:bodyPr/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9834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81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6" name="Group 75"/>
          <p:cNvGrpSpPr/>
          <p:nvPr/>
        </p:nvGrpSpPr>
        <p:grpSpPr>
          <a:xfrm>
            <a:off x="805336" y="1698331"/>
            <a:ext cx="5941540" cy="3470421"/>
            <a:chOff x="805336" y="1698331"/>
            <a:chExt cx="5941540" cy="3470421"/>
          </a:xfrm>
        </p:grpSpPr>
        <p:sp>
          <p:nvSpPr>
            <p:cNvPr id="77" name="Rectangle 76"/>
            <p:cNvSpPr/>
            <p:nvPr/>
          </p:nvSpPr>
          <p:spPr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9"/>
            <p:cNvSpPr/>
            <p:nvPr/>
          </p:nvSpPr>
          <p:spPr>
            <a:xfrm rot="10800000">
              <a:off x="3618113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43510" y="0"/>
            <a:ext cx="4648490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443" y="2360255"/>
            <a:ext cx="5776646" cy="1178032"/>
          </a:xfrm>
        </p:spPr>
        <p:txBody>
          <a:bodyPr bIns="0" anchor="b">
            <a:normAutofit/>
          </a:bodyPr>
          <a:lstStyle>
            <a:lvl1pPr>
              <a:defRPr sz="3600"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5443" y="3545012"/>
            <a:ext cx="5776646" cy="127419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F6CCBF3A-D7FB-4B97-8FD5-6FFB20CB1E8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5942203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828377" y="320040"/>
            <a:ext cx="914400" cy="320040"/>
          </a:xfrm>
        </p:spPr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999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1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9983" y="794719"/>
            <a:ext cx="6275035" cy="525709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280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 flipH="1">
            <a:off x="0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7718948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07437" y="2349925"/>
            <a:ext cx="3501195" cy="2456442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2747" y="798444"/>
            <a:ext cx="6268622" cy="5257303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F6CCBF3A-D7FB-4B97-8FD5-6FFB20CB1E8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2726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54BA5-570B-4BB5-B3E7-33BEEF6B99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8FB4CE90-470A-43E3-A052-3E8AD880B4A5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4F9F236-E5F1-497B-9D2D-66F8717F5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/>
              <a:t>Confidential &amp; Proprietary – Not for Distribution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199C20A-51FB-47CF-8539-89D6150A17E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41300" y="1443037"/>
            <a:ext cx="11734800" cy="470675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3401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54BA5-570B-4BB5-B3E7-33BEEF6B99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8FB4CE90-470A-43E3-A052-3E8AD880B4A5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4F9F236-E5F1-497B-9D2D-66F8717F5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/>
              <a:t>Confidential &amp; Proprietary – Not for Distribution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199C20A-51FB-47CF-8539-89D6150A17E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41300" y="1443037"/>
            <a:ext cx="11734800" cy="470675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6904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54BA5-570B-4BB5-B3E7-33BEEF6B99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8FB4CE90-470A-43E3-A052-3E8AD880B4A5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4F9F236-E5F1-497B-9D2D-66F8717F5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/>
              <a:t>Confidential &amp; Proprietary – Not for Distribution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199C20A-51FB-47CF-8539-89D6150A17E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41300" y="1443037"/>
            <a:ext cx="11734800" cy="470675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5068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54BA5-570B-4BB5-B3E7-33BEEF6B99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8FB4CE90-470A-43E3-A052-3E8AD880B4A5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4F9F236-E5F1-497B-9D2D-66F8717F5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/>
              <a:t>Confidential &amp; Proprietary – Not for Distribution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199C20A-51FB-47CF-8539-89D6150A17E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41300" y="1443037"/>
            <a:ext cx="11734800" cy="470675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6026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54BA5-570B-4BB5-B3E7-33BEEF6B99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8FB4CE90-470A-43E3-A052-3E8AD880B4A5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4F9F236-E5F1-497B-9D2D-66F8717F5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/>
              <a:t>Confidential &amp; Proprietary – Not for Distribution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199C20A-51FB-47CF-8539-89D6150A17E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41300" y="1443037"/>
            <a:ext cx="11734800" cy="470675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4140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ustom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CCB16-91F9-4682-BCA6-1268F1CF2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631" y="376518"/>
            <a:ext cx="11730789" cy="5681734"/>
          </a:xfrm>
        </p:spPr>
        <p:txBody>
          <a:bodyPr>
            <a:normAutofit/>
          </a:bodyPr>
          <a:lstStyle>
            <a:lvl1pPr>
              <a:defRPr sz="5400">
                <a:solidFill>
                  <a:srgbClr val="1A144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ED7689C-0806-49CA-ADB1-91D43C05DE55}"/>
              </a:ext>
            </a:extLst>
          </p:cNvPr>
          <p:cNvGrpSpPr/>
          <p:nvPr userDrawn="1"/>
        </p:nvGrpSpPr>
        <p:grpSpPr>
          <a:xfrm>
            <a:off x="11595615" y="6272479"/>
            <a:ext cx="461773" cy="469521"/>
            <a:chOff x="11613545" y="6272479"/>
            <a:chExt cx="461773" cy="469521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B9B4402-A46E-4B4E-9887-41395598983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1613545" y="6272479"/>
              <a:ext cx="461773" cy="469521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F3B57896-F51A-4869-B2DF-EEEC67F1B29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/>
            <a:srcRect b="2491"/>
            <a:stretch/>
          </p:blipFill>
          <p:spPr>
            <a:xfrm>
              <a:off x="11718819" y="6325130"/>
              <a:ext cx="277918" cy="36330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214944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161" y="2358391"/>
            <a:ext cx="3498667" cy="2456485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34982" y="794719"/>
            <a:ext cx="5950036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4672" y="320040"/>
            <a:ext cx="36576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CCBF3A-D7FB-4B97-8FD5-6FFB20CB1E8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274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  <p:sldLayoutId id="2147483751" r:id="rId12"/>
    <p:sldLayoutId id="2147483752" r:id="rId13"/>
    <p:sldLayoutId id="2147483753" r:id="rId14"/>
    <p:sldLayoutId id="2147483754" r:id="rId15"/>
    <p:sldLayoutId id="2147483755" r:id="rId16"/>
    <p:sldLayoutId id="2147483756" r:id="rId17"/>
  </p:sldLayoutIdLst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spc="-15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white room with a blue sky&#10;&#10;AI-generated content may be incorrect.">
            <a:extLst>
              <a:ext uri="{FF2B5EF4-FFF2-40B4-BE49-F238E27FC236}">
                <a16:creationId xmlns:a16="http://schemas.microsoft.com/office/drawing/2014/main" id="{A68F82C4-28FB-5F68-0A48-4E9CAC5D3BE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25000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651E792-3038-5DC3-BB47-4E0C445902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36430"/>
            <a:ext cx="9144000" cy="2820573"/>
          </a:xfrm>
        </p:spPr>
        <p:txBody>
          <a:bodyPr>
            <a:normAutofit/>
          </a:bodyPr>
          <a:lstStyle/>
          <a:p>
            <a:r>
              <a:rPr lang="en-US" sz="6600" dirty="0"/>
              <a:t>Querying the Vector Store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7D0668-90BC-89E2-5B19-926C52110E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68856" y="4628271"/>
            <a:ext cx="4054288" cy="1069144"/>
          </a:xfrm>
        </p:spPr>
        <p:txBody>
          <a:bodyPr>
            <a:norm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505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6E393E6-CFA2-610E-9C20-FF179E9368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5353132"/>
              </p:ext>
            </p:extLst>
          </p:nvPr>
        </p:nvGraphicFramePr>
        <p:xfrm>
          <a:off x="99899" y="83757"/>
          <a:ext cx="11992202" cy="6132927"/>
        </p:xfrm>
        <a:graphic>
          <a:graphicData uri="http://schemas.openxmlformats.org/drawingml/2006/table">
            <a:tbl>
              <a:tblPr bandRow="1">
                <a:tableStyleId>{616DA210-FB5B-4158-B5E0-FEB733F419BA}</a:tableStyleId>
              </a:tblPr>
              <a:tblGrid>
                <a:gridCol w="3158229">
                  <a:extLst>
                    <a:ext uri="{9D8B030D-6E8A-4147-A177-3AD203B41FA5}">
                      <a16:colId xmlns:a16="http://schemas.microsoft.com/office/drawing/2014/main" val="1706393590"/>
                    </a:ext>
                  </a:extLst>
                </a:gridCol>
                <a:gridCol w="2837873">
                  <a:extLst>
                    <a:ext uri="{9D8B030D-6E8A-4147-A177-3AD203B41FA5}">
                      <a16:colId xmlns:a16="http://schemas.microsoft.com/office/drawing/2014/main" val="3058513581"/>
                    </a:ext>
                  </a:extLst>
                </a:gridCol>
                <a:gridCol w="2998050">
                  <a:extLst>
                    <a:ext uri="{9D8B030D-6E8A-4147-A177-3AD203B41FA5}">
                      <a16:colId xmlns:a16="http://schemas.microsoft.com/office/drawing/2014/main" val="1592556884"/>
                    </a:ext>
                  </a:extLst>
                </a:gridCol>
                <a:gridCol w="2998050">
                  <a:extLst>
                    <a:ext uri="{9D8B030D-6E8A-4147-A177-3AD203B41FA5}">
                      <a16:colId xmlns:a16="http://schemas.microsoft.com/office/drawing/2014/main" val="3400378745"/>
                    </a:ext>
                  </a:extLst>
                </a:gridCol>
              </a:tblGrid>
              <a:tr h="570832"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1. Overview of AI Workflows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2. Why Postgres as a vector store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3. Storing and managing vectors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4. Querying the vector store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1013857"/>
                  </a:ext>
                </a:extLst>
              </a:tr>
              <a:tr h="2438464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Look at high-level architecture - LLMs, vector stores and JSON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Look at key vocabulary and concepts (embeddings, vectors, hybrid queries, etc.)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What is a vector store? Key concepts and use cases.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Why Postgres and how does it compare with other market tools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Setting up Postgres with vector capabilities (</a:t>
                      </a:r>
                      <a:r>
                        <a:rPr lang="en-US" sz="16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pgvector</a:t>
                      </a:r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Lab</a:t>
                      </a:r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: Install and configure Postgres using Docker</a:t>
                      </a:r>
                      <a:endParaRPr lang="en-GB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Generating embeddings: Overview of tools and workflows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Storing and organizing embeddings in Postgres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Strategies for handling large datasets including chunking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Dense and sparse vectors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Lab: </a:t>
                      </a:r>
                      <a:r>
                        <a:rPr lang="en-GB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Generate embeddings for a dataset and store them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Techniques for similarity search: k-NN, cosine similarity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Using indexes to optimize vector queries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Reranking results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Lab: </a:t>
                      </a:r>
                      <a:r>
                        <a:rPr lang="en-GB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Query stored vectors to retrieve similar items (document/image search)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7538134"/>
                  </a:ext>
                </a:extLst>
              </a:tr>
              <a:tr h="609930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5. Querying LLMs with retrieved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6. NoSQL with JSON in Postgres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7. Integrating Vector, Relational and JSON Data</a:t>
                      </a:r>
                      <a:endParaRPr lang="en-GB" sz="1600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8. Putting it all together</a:t>
                      </a:r>
                      <a:endParaRPr lang="en-GB" sz="1600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1733770"/>
                  </a:ext>
                </a:extLst>
              </a:tr>
              <a:tr h="2414037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Recap on querying LLMs vis APIs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Best practices for combining vector retrieval with LLM prompts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Prompt configuration parameters (temperature, top-k, etc)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Lab:</a:t>
                      </a:r>
                      <a:r>
                        <a:rPr lang="en-GB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Build a pipeline where vector store results enhance LLM responses (context-aware Q&amp;A, etc)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Overview of JSON/JSONB support in Postgres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Querying JSONB data with SQL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Indexing JSONB data for performance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Lab: </a:t>
                      </a:r>
                      <a:r>
                        <a:rPr lang="en-GB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Design a schema mixing vector, relational and JSONB data for a sample project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Building hybrid queries to power advanced workflows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Case study:</a:t>
                      </a:r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Combining embeddings, metadata (relational) and configurations (JSON)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Lab:</a:t>
                      </a:r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Implement a hybrid query to support a sample AI use case</a:t>
                      </a:r>
                      <a:endParaRPr lang="en-GB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Full stack pipeline demo: Retrieve data, query the LLM and return results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Debugging and </a:t>
                      </a:r>
                      <a:r>
                        <a:rPr lang="en-GB" sz="1600" noProof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optimising</a:t>
                      </a:r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the workflow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Spotlight on LLM frameworks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Lab:</a:t>
                      </a:r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Build a working application combining all elements </a:t>
                      </a:r>
                      <a:endParaRPr lang="en-GB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10132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72829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DAE11-A1FE-B568-3E56-A44ECBA17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 for the session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2A311-6037-854F-8418-20DBA260E3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 to querying</a:t>
            </a:r>
          </a:p>
          <a:p>
            <a:r>
              <a:rPr lang="en-US" dirty="0"/>
              <a:t>Cosine Similarity</a:t>
            </a:r>
          </a:p>
          <a:p>
            <a:r>
              <a:rPr lang="en-US" dirty="0"/>
              <a:t>k-Nearest </a:t>
            </a:r>
            <a:r>
              <a:rPr lang="en-US" dirty="0" err="1"/>
              <a:t>Neighbours</a:t>
            </a:r>
            <a:r>
              <a:rPr lang="en-US" dirty="0"/>
              <a:t> (k-NN)</a:t>
            </a:r>
          </a:p>
          <a:p>
            <a:r>
              <a:rPr lang="en-US" dirty="0"/>
              <a:t>Other similarity measures</a:t>
            </a:r>
          </a:p>
          <a:p>
            <a:r>
              <a:rPr lang="en-US" dirty="0"/>
              <a:t>Using Indexes for </a:t>
            </a:r>
            <a:r>
              <a:rPr lang="en-US" dirty="0" err="1"/>
              <a:t>Optimised</a:t>
            </a:r>
            <a:r>
              <a:rPr lang="en-US" dirty="0"/>
              <a:t> Queries</a:t>
            </a:r>
          </a:p>
          <a:p>
            <a:r>
              <a:rPr lang="en-US" dirty="0" err="1"/>
              <a:t>IVFFlat</a:t>
            </a:r>
            <a:r>
              <a:rPr lang="en-US" dirty="0"/>
              <a:t> Index</a:t>
            </a:r>
          </a:p>
          <a:p>
            <a:r>
              <a:rPr lang="en-US" dirty="0"/>
              <a:t>HNSW Index</a:t>
            </a:r>
          </a:p>
        </p:txBody>
      </p:sp>
    </p:spTree>
    <p:extLst>
      <p:ext uri="{BB962C8B-B14F-4D97-AF65-F5344CB8AC3E}">
        <p14:creationId xmlns:p14="http://schemas.microsoft.com/office/powerpoint/2010/main" val="9450439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08316-641F-674C-CA6D-966D2D4B4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7899400" cy="1028700"/>
          </a:xfrm>
        </p:spPr>
        <p:txBody>
          <a:bodyPr/>
          <a:lstStyle/>
          <a:p>
            <a:r>
              <a:rPr lang="en-US" dirty="0"/>
              <a:t>Introduction to querying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116132B-9242-D875-47F5-9B57F9CA6E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8FB4CE90-470A-43E3-A052-3E8AD880B4A5}" type="slidenum">
              <a:rPr lang="en-US" smtClean="0"/>
              <a:pPr algn="r"/>
              <a:t>4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43D90D5-9C81-D524-F148-E9E06F91C33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200" y="1443037"/>
            <a:ext cx="11734800" cy="4706751"/>
          </a:xfrm>
        </p:spPr>
        <p:txBody>
          <a:bodyPr>
            <a:normAutofit/>
          </a:bodyPr>
          <a:lstStyle/>
          <a:p>
            <a:r>
              <a:rPr lang="en-US" dirty="0"/>
              <a:t>A vector query retrieves similar items based on vector distance or similarity</a:t>
            </a:r>
          </a:p>
          <a:p>
            <a:r>
              <a:rPr lang="en-US" dirty="0"/>
              <a:t>Common use cases:</a:t>
            </a:r>
          </a:p>
          <a:p>
            <a:pPr lvl="1"/>
            <a:r>
              <a:rPr lang="en-US" dirty="0"/>
              <a:t>Semantic Search: Retrieve documents or data similar in meaning</a:t>
            </a:r>
          </a:p>
          <a:p>
            <a:pPr lvl="1"/>
            <a:r>
              <a:rPr lang="en-US" dirty="0"/>
              <a:t>Recommendations: Suggest similar products, songs or content</a:t>
            </a:r>
          </a:p>
          <a:p>
            <a:pPr lvl="1"/>
            <a:r>
              <a:rPr lang="en-US" dirty="0"/>
              <a:t>Clustering: Group items with similar embeddings</a:t>
            </a:r>
          </a:p>
          <a:p>
            <a:r>
              <a:rPr lang="en-US" dirty="0"/>
              <a:t>There are four index operators:</a:t>
            </a:r>
          </a:p>
          <a:p>
            <a:pPr lvl="1"/>
            <a:r>
              <a:rPr lang="en-US" b="1" dirty="0" err="1"/>
              <a:t>vector_cosine_ops</a:t>
            </a:r>
            <a:r>
              <a:rPr lang="en-US" dirty="0"/>
              <a:t>: Cosine similarity (lower = more similar) [ &lt;=&gt; ]</a:t>
            </a:r>
          </a:p>
          <a:p>
            <a:pPr lvl="1"/>
            <a:r>
              <a:rPr lang="en-US" b="1" dirty="0"/>
              <a:t>vector_l2_ops</a:t>
            </a:r>
            <a:r>
              <a:rPr lang="en-US" dirty="0"/>
              <a:t>: Euclidean distance [ &lt;-&gt; ]</a:t>
            </a:r>
          </a:p>
          <a:p>
            <a:pPr lvl="1"/>
            <a:r>
              <a:rPr lang="en-US" b="1" dirty="0" err="1"/>
              <a:t>vector_inner_ops</a:t>
            </a:r>
            <a:r>
              <a:rPr lang="en-US" dirty="0"/>
              <a:t>: Inner product [ &lt;#&gt; ]</a:t>
            </a:r>
          </a:p>
          <a:p>
            <a:pPr lvl="1"/>
            <a:r>
              <a:rPr lang="en-GB" b="1" dirty="0" err="1"/>
              <a:t>vector_manhattan_ops</a:t>
            </a:r>
            <a:r>
              <a:rPr lang="en-GB" dirty="0"/>
              <a:t>: Manhattan distance [ &lt;+&gt; 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1210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bldLvl="2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12504-AD30-0C1F-5349-B843760F1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6794499" cy="1032012"/>
          </a:xfrm>
        </p:spPr>
        <p:txBody>
          <a:bodyPr/>
          <a:lstStyle/>
          <a:p>
            <a:r>
              <a:rPr lang="en-US" dirty="0"/>
              <a:t>Cosine Similarity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FECF55E-F264-3BDB-8A53-8C74B80A59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8FB4CE90-470A-43E3-A052-3E8AD880B4A5}" type="slidenum">
              <a:rPr lang="en-US" smtClean="0"/>
              <a:pPr algn="r"/>
              <a:t>5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5B27F48-4EF6-C223-5B73-E7350FC44E2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41300" y="1443037"/>
            <a:ext cx="4266905" cy="4706751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Cosine similarity measures the cosine of the angle between two non-zero vectors in a multi-dimensional space. It quantifies how similar two vectors are, regardless of their magnitude, by assessing the orientation between them.</a:t>
            </a:r>
            <a:endParaRPr lang="en-US" dirty="0"/>
          </a:p>
        </p:txBody>
      </p:sp>
      <p:pic>
        <p:nvPicPr>
          <p:cNvPr id="7" name="Picture 6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B21CF90A-BF96-7E48-F95A-2E45A7BABD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0799" y="629227"/>
            <a:ext cx="5556358" cy="16276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838A12B-5B66-9EB8-3BB3-1FD05A1197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9833" y="3239008"/>
            <a:ext cx="6910867" cy="1616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161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EF2F9-60A8-5FBF-DE78-9C1BDD82C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6896100" cy="952500"/>
          </a:xfrm>
        </p:spPr>
        <p:txBody>
          <a:bodyPr>
            <a:normAutofit fontScale="90000"/>
          </a:bodyPr>
          <a:lstStyle/>
          <a:p>
            <a:r>
              <a:rPr lang="en-US" dirty="0"/>
              <a:t>k-Nearest </a:t>
            </a:r>
            <a:r>
              <a:rPr lang="en-US" dirty="0" err="1"/>
              <a:t>Neighbours</a:t>
            </a:r>
            <a:r>
              <a:rPr lang="en-US" dirty="0"/>
              <a:t> (k-NN)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4F344B-C982-866A-86F2-AFA1617498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8FB4CE90-470A-43E3-A052-3E8AD880B4A5}" type="slidenum">
              <a:rPr lang="en-US" smtClean="0"/>
              <a:pPr algn="r"/>
              <a:t>6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FE49672-1129-F602-2899-EE755D22A6A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41300" y="1443037"/>
            <a:ext cx="11734800" cy="1985963"/>
          </a:xfrm>
        </p:spPr>
        <p:txBody>
          <a:bodyPr/>
          <a:lstStyle/>
          <a:p>
            <a:r>
              <a:rPr lang="en-GB" b="1" dirty="0"/>
              <a:t>Step 1:</a:t>
            </a:r>
            <a:r>
              <a:rPr lang="en-GB" dirty="0"/>
              <a:t> Compute the similarity (or distance) between the query vector and all other vectors.</a:t>
            </a:r>
          </a:p>
          <a:p>
            <a:r>
              <a:rPr lang="en-GB" b="1" dirty="0"/>
              <a:t>Step 2:</a:t>
            </a:r>
            <a:r>
              <a:rPr lang="en-GB" dirty="0"/>
              <a:t> Sort by similarity/distance.</a:t>
            </a:r>
          </a:p>
          <a:p>
            <a:r>
              <a:rPr lang="en-GB" b="1" dirty="0"/>
              <a:t>Step 3:</a:t>
            </a:r>
            <a:r>
              <a:rPr lang="en-GB" dirty="0"/>
              <a:t> Return the top k results.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6258F8-B1CB-D756-A15B-7D551581E4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1973" y="3678865"/>
            <a:ext cx="6848053" cy="2323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756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45D56-28FE-4544-0956-9247C1DE5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similarity measures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274D9E-8297-8BC5-7119-F1AE51F67C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8FB4CE90-470A-43E3-A052-3E8AD880B4A5}" type="slidenum">
              <a:rPr lang="en-US" smtClean="0"/>
              <a:pPr algn="r"/>
              <a:t>7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B7D2D4-0A6A-22E2-260D-5E2EF2917D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6629" y="7384863"/>
            <a:ext cx="7772400" cy="26374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62968B1-3FFA-1809-B81F-0FA7391EA6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267060" y="7384863"/>
            <a:ext cx="7772400" cy="2637421"/>
          </a:xfrm>
          <a:prstGeom prst="rect">
            <a:avLst/>
          </a:prstGeom>
        </p:spPr>
      </p:pic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EF6F72C-C602-EF84-A4F8-5B453A759AD1}"/>
              </a:ext>
            </a:extLst>
          </p:cNvPr>
          <p:cNvGraphicFramePr>
            <a:graphicFrameLocks noGrp="1"/>
          </p:cNvGraphicFramePr>
          <p:nvPr/>
        </p:nvGraphicFramePr>
        <p:xfrm>
          <a:off x="386080" y="1227666"/>
          <a:ext cx="11565288" cy="48820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55096">
                  <a:extLst>
                    <a:ext uri="{9D8B030D-6E8A-4147-A177-3AD203B41FA5}">
                      <a16:colId xmlns:a16="http://schemas.microsoft.com/office/drawing/2014/main" val="3954288577"/>
                    </a:ext>
                  </a:extLst>
                </a:gridCol>
                <a:gridCol w="3855096">
                  <a:extLst>
                    <a:ext uri="{9D8B030D-6E8A-4147-A177-3AD203B41FA5}">
                      <a16:colId xmlns:a16="http://schemas.microsoft.com/office/drawing/2014/main" val="3893435623"/>
                    </a:ext>
                  </a:extLst>
                </a:gridCol>
                <a:gridCol w="3855096">
                  <a:extLst>
                    <a:ext uri="{9D8B030D-6E8A-4147-A177-3AD203B41FA5}">
                      <a16:colId xmlns:a16="http://schemas.microsoft.com/office/drawing/2014/main" val="3501135672"/>
                    </a:ext>
                  </a:extLst>
                </a:gridCol>
              </a:tblGrid>
              <a:tr h="606002">
                <a:tc>
                  <a:txBody>
                    <a:bodyPr/>
                    <a:lstStyle/>
                    <a:p>
                      <a:r>
                        <a:rPr lang="en-US" dirty="0"/>
                        <a:t>Similarity Measure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Native Support in </a:t>
                      </a:r>
                      <a:r>
                        <a:rPr lang="en-US" dirty="0" err="1"/>
                        <a:t>pgvector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SQL 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3376317"/>
                  </a:ext>
                </a:extLst>
              </a:tr>
              <a:tr h="606002">
                <a:tc>
                  <a:txBody>
                    <a:bodyPr/>
                    <a:lstStyle/>
                    <a:p>
                      <a:r>
                        <a:rPr lang="en-GB" b="1" dirty="0"/>
                        <a:t>Cosine Similarity</a:t>
                      </a:r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/>
                        <a:t>✅ 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&lt;=&gt;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8579267"/>
                  </a:ext>
                </a:extLst>
              </a:tr>
              <a:tr h="606002">
                <a:tc>
                  <a:txBody>
                    <a:bodyPr/>
                    <a:lstStyle/>
                    <a:p>
                      <a:r>
                        <a:rPr lang="en-GB" b="1" dirty="0"/>
                        <a:t>Euclidean Distance</a:t>
                      </a:r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✅ 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&lt;-&gt;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2754999"/>
                  </a:ext>
                </a:extLst>
              </a:tr>
              <a:tr h="606002">
                <a:tc>
                  <a:txBody>
                    <a:bodyPr/>
                    <a:lstStyle/>
                    <a:p>
                      <a:r>
                        <a:rPr lang="en-GB" b="1" dirty="0"/>
                        <a:t>Inner Product</a:t>
                      </a:r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✅ 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&lt;#&gt;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1133836"/>
                  </a:ext>
                </a:extLst>
              </a:tr>
              <a:tr h="606002">
                <a:tc>
                  <a:txBody>
                    <a:bodyPr/>
                    <a:lstStyle/>
                    <a:p>
                      <a:r>
                        <a:rPr lang="en-GB" b="1" dirty="0"/>
                        <a:t>Manhattan Distance</a:t>
                      </a:r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✅ 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&lt;+&gt;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8402296"/>
                  </a:ext>
                </a:extLst>
              </a:tr>
              <a:tr h="606002">
                <a:tc>
                  <a:txBody>
                    <a:bodyPr/>
                    <a:lstStyle/>
                    <a:p>
                      <a:r>
                        <a:rPr lang="en-GB" b="1" dirty="0"/>
                        <a:t>Jaccard Similarity</a:t>
                      </a:r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✅ 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&lt;%&gt;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167372"/>
                  </a:ext>
                </a:extLst>
              </a:tr>
              <a:tr h="606002">
                <a:tc>
                  <a:txBody>
                    <a:bodyPr/>
                    <a:lstStyle/>
                    <a:p>
                      <a:r>
                        <a:rPr lang="en-GB" b="1" dirty="0"/>
                        <a:t>Hamming Distance</a:t>
                      </a:r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✅ 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&lt;~&gt;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5525769"/>
                  </a:ext>
                </a:extLst>
              </a:tr>
              <a:tr h="606002">
                <a:tc>
                  <a:txBody>
                    <a:bodyPr/>
                    <a:lstStyle/>
                    <a:p>
                      <a:r>
                        <a:rPr lang="en-GB" b="1" dirty="0" err="1"/>
                        <a:t>Mahalanobis</a:t>
                      </a:r>
                      <a:r>
                        <a:rPr lang="en-GB" b="1" dirty="0"/>
                        <a:t> Distance</a:t>
                      </a:r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❌ No (External computation)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Use Python/NumPy or other external tools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32625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4117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681 -0.07778 L -0.26146 -0.80972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674" y="-3659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355 -0.05717 L 0.43177 -0.80671 " pathEditMode="relative" ptsTypes="AA">
                                      <p:cBhvr>
                                        <p:cTn id="14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59194-020F-484A-3405-5685066C8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893299" cy="822959"/>
          </a:xfrm>
        </p:spPr>
        <p:txBody>
          <a:bodyPr>
            <a:normAutofit fontScale="90000"/>
          </a:bodyPr>
          <a:lstStyle/>
          <a:p>
            <a:r>
              <a:rPr lang="en-US" dirty="0"/>
              <a:t>Indexing embeddings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CE592DE-8BB4-27CC-7B27-D247A6456D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8FB4CE90-470A-43E3-A052-3E8AD880B4A5}" type="slidenum">
              <a:rPr lang="en-US" smtClean="0"/>
              <a:pPr algn="r"/>
              <a:t>8</a:t>
            </a:fld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191314D-2A23-4EDB-3A20-A706DF6C3A44}"/>
              </a:ext>
            </a:extLst>
          </p:cNvPr>
          <p:cNvSpPr/>
          <p:nvPr/>
        </p:nvSpPr>
        <p:spPr>
          <a:xfrm>
            <a:off x="3997233" y="1110344"/>
            <a:ext cx="3779520" cy="57041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 err="1">
                <a:solidFill>
                  <a:schemeClr val="bg1"/>
                </a:solidFill>
              </a:rPr>
              <a:t>IVFFlat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C5F35E1-4519-B5DF-D6B4-421D10E3D147}"/>
              </a:ext>
            </a:extLst>
          </p:cNvPr>
          <p:cNvSpPr/>
          <p:nvPr/>
        </p:nvSpPr>
        <p:spPr>
          <a:xfrm>
            <a:off x="8066438" y="1110344"/>
            <a:ext cx="3779520" cy="57041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HNSW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9427FB2-624A-5409-4858-7E03100A77B3}"/>
              </a:ext>
            </a:extLst>
          </p:cNvPr>
          <p:cNvSpPr/>
          <p:nvPr/>
        </p:nvSpPr>
        <p:spPr>
          <a:xfrm>
            <a:off x="548639" y="1985420"/>
            <a:ext cx="2377440" cy="574766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Memory usage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DD24057-3D55-64A0-4B4B-F28844CA5EF1}"/>
              </a:ext>
            </a:extLst>
          </p:cNvPr>
          <p:cNvSpPr/>
          <p:nvPr/>
        </p:nvSpPr>
        <p:spPr>
          <a:xfrm>
            <a:off x="3997234" y="1968138"/>
            <a:ext cx="3779518" cy="574766"/>
          </a:xfrm>
          <a:prstGeom prst="roundRect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chemeClr val="tx2"/>
                </a:solidFill>
              </a:rPr>
              <a:t>Low (disk based)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EBDFBF9-E7C8-9842-00E8-08B676DFDF53}"/>
              </a:ext>
            </a:extLst>
          </p:cNvPr>
          <p:cNvSpPr/>
          <p:nvPr/>
        </p:nvSpPr>
        <p:spPr>
          <a:xfrm>
            <a:off x="8066438" y="1968138"/>
            <a:ext cx="3779520" cy="574766"/>
          </a:xfrm>
          <a:prstGeom prst="roundRect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chemeClr val="tx2"/>
                </a:solidFill>
              </a:rPr>
              <a:t>High (RAM-based)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5BFBE2A7-5636-C327-E3B6-BD50AEB8DD27}"/>
              </a:ext>
            </a:extLst>
          </p:cNvPr>
          <p:cNvSpPr/>
          <p:nvPr/>
        </p:nvSpPr>
        <p:spPr>
          <a:xfrm>
            <a:off x="548639" y="2818176"/>
            <a:ext cx="2377440" cy="574766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Performance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965777E-08FD-10ED-E679-BB95DCA409B4}"/>
              </a:ext>
            </a:extLst>
          </p:cNvPr>
          <p:cNvSpPr/>
          <p:nvPr/>
        </p:nvSpPr>
        <p:spPr>
          <a:xfrm>
            <a:off x="3997232" y="2623217"/>
            <a:ext cx="3779521" cy="970846"/>
          </a:xfrm>
          <a:prstGeom prst="roundRect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chemeClr val="tx2"/>
                </a:solidFill>
              </a:rPr>
              <a:t>Moderate speed, tunable with `lists` parameter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13A83E2-9F20-843F-016D-D88F9C45D2A8}"/>
              </a:ext>
            </a:extLst>
          </p:cNvPr>
          <p:cNvSpPr/>
          <p:nvPr/>
        </p:nvSpPr>
        <p:spPr>
          <a:xfrm>
            <a:off x="8066438" y="2622655"/>
            <a:ext cx="3779521" cy="970846"/>
          </a:xfrm>
          <a:prstGeom prst="roundRect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chemeClr val="tx2"/>
                </a:solidFill>
              </a:rPr>
              <a:t>Faster searches, especially for large datasets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D8743791-B887-7C44-A477-A3372329EF2C}"/>
              </a:ext>
            </a:extLst>
          </p:cNvPr>
          <p:cNvSpPr/>
          <p:nvPr/>
        </p:nvSpPr>
        <p:spPr>
          <a:xfrm>
            <a:off x="548639" y="3989479"/>
            <a:ext cx="2377440" cy="574766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Best for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4B31ECCF-F470-5A1C-7794-212954B64B28}"/>
              </a:ext>
            </a:extLst>
          </p:cNvPr>
          <p:cNvSpPr/>
          <p:nvPr/>
        </p:nvSpPr>
        <p:spPr>
          <a:xfrm>
            <a:off x="3997232" y="3675283"/>
            <a:ext cx="3779520" cy="1203158"/>
          </a:xfrm>
          <a:prstGeom prst="roundRect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chemeClr val="tx2"/>
                </a:solidFill>
              </a:rPr>
              <a:t>Development environments, systems with limited memory, medium-sized datasets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7CA56718-8B13-16E2-2FD5-AD6865C9C01B}"/>
              </a:ext>
            </a:extLst>
          </p:cNvPr>
          <p:cNvSpPr/>
          <p:nvPr/>
        </p:nvSpPr>
        <p:spPr>
          <a:xfrm>
            <a:off x="8066438" y="3675283"/>
            <a:ext cx="3779520" cy="1203158"/>
          </a:xfrm>
          <a:prstGeom prst="roundRect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chemeClr val="tx2"/>
                </a:solidFill>
              </a:rPr>
              <a:t>High-performance production systems, low-latency/high recall, large datasets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E1675A03-F1BD-B4CA-DD2D-4ABF1217231D}"/>
              </a:ext>
            </a:extLst>
          </p:cNvPr>
          <p:cNvSpPr/>
          <p:nvPr/>
        </p:nvSpPr>
        <p:spPr>
          <a:xfrm>
            <a:off x="548639" y="5273857"/>
            <a:ext cx="2377440" cy="574766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How it works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783962CA-EC05-5F03-DAAB-0A881AD8D1DB}"/>
              </a:ext>
            </a:extLst>
          </p:cNvPr>
          <p:cNvSpPr/>
          <p:nvPr/>
        </p:nvSpPr>
        <p:spPr>
          <a:xfrm>
            <a:off x="3997232" y="4959661"/>
            <a:ext cx="3779520" cy="1203158"/>
          </a:xfrm>
          <a:prstGeom prst="roundRect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chemeClr val="tx2"/>
                </a:solidFill>
              </a:rPr>
              <a:t>Divides vector space into clusters (lists) to reduce comparisons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19BBE29F-C179-BD18-D1DF-4B689B8ED9E8}"/>
              </a:ext>
            </a:extLst>
          </p:cNvPr>
          <p:cNvSpPr/>
          <p:nvPr/>
        </p:nvSpPr>
        <p:spPr>
          <a:xfrm>
            <a:off x="8066438" y="4959661"/>
            <a:ext cx="3779520" cy="1203158"/>
          </a:xfrm>
          <a:prstGeom prst="roundRect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chemeClr val="tx2"/>
                </a:solidFill>
              </a:rPr>
              <a:t>Builds an in-memory graph and navigates it during searches</a:t>
            </a:r>
          </a:p>
        </p:txBody>
      </p:sp>
    </p:spTree>
    <p:extLst>
      <p:ext uri="{BB962C8B-B14F-4D97-AF65-F5344CB8AC3E}">
        <p14:creationId xmlns:p14="http://schemas.microsoft.com/office/powerpoint/2010/main" val="3737751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697F9-2093-520F-D289-C2A6A6815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Demo: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Generating indexes</a:t>
            </a:r>
          </a:p>
        </p:txBody>
      </p:sp>
    </p:spTree>
    <p:extLst>
      <p:ext uri="{BB962C8B-B14F-4D97-AF65-F5344CB8AC3E}">
        <p14:creationId xmlns:p14="http://schemas.microsoft.com/office/powerpoint/2010/main" val="19862583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042C2-C24C-4CF9-AA80-B9DDDDC12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Lab</a:t>
            </a:r>
          </a:p>
        </p:txBody>
      </p:sp>
    </p:spTree>
    <p:extLst>
      <p:ext uri="{BB962C8B-B14F-4D97-AF65-F5344CB8AC3E}">
        <p14:creationId xmlns:p14="http://schemas.microsoft.com/office/powerpoint/2010/main" val="20919330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B1025-D0A3-EAB0-BEC7-099A83887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Yellow question mark">
            <a:extLst>
              <a:ext uri="{FF2B5EF4-FFF2-40B4-BE49-F238E27FC236}">
                <a16:creationId xmlns:a16="http://schemas.microsoft.com/office/drawing/2014/main" id="{BC692157-0CF2-F5B7-3342-24FC1EB8FA9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250"/>
          <a:stretch>
            <a:fillRect/>
          </a:stretch>
        </p:blipFill>
        <p:spPr>
          <a:xfrm>
            <a:off x="-2" y="10"/>
            <a:ext cx="12192002" cy="68579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733D48D-A732-0271-D0A1-8DF337828B0C}"/>
              </a:ext>
            </a:extLst>
          </p:cNvPr>
          <p:cNvSpPr txBox="1">
            <a:spLocks/>
          </p:cNvSpPr>
          <p:nvPr/>
        </p:nvSpPr>
        <p:spPr>
          <a:xfrm>
            <a:off x="1003494" y="5451471"/>
            <a:ext cx="10185009" cy="6723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Aft>
                <a:spcPts val="600"/>
              </a:spcAft>
            </a:pPr>
            <a:r>
              <a:rPr lang="en-US" sz="3600"/>
              <a:t>Questions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34FF3A32-385F-E2CA-1F65-969736DC19A1}"/>
              </a:ext>
            </a:extLst>
          </p:cNvPr>
          <p:cNvSpPr txBox="1">
            <a:spLocks/>
          </p:cNvSpPr>
          <p:nvPr/>
        </p:nvSpPr>
        <p:spPr>
          <a:xfrm>
            <a:off x="1938996" y="6155084"/>
            <a:ext cx="8314005" cy="4426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spcBef>
                <a:spcPts val="1000"/>
              </a:spcBef>
              <a:buSzPct val="80000"/>
            </a:pPr>
            <a:r>
              <a:rPr lang="en-US" sz="180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830279272"/>
      </p:ext>
    </p:extLst>
  </p:cSld>
  <p:clrMapOvr>
    <a:masterClrMapping/>
  </p:clrMapOvr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Atlas</Template>
  <TotalTime>23</TotalTime>
  <Words>2019</Words>
  <Application>Microsoft Macintosh PowerPoint</Application>
  <PresentationFormat>Widescreen</PresentationFormat>
  <Paragraphs>220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Arial</vt:lpstr>
      <vt:lpstr>Calibri</vt:lpstr>
      <vt:lpstr>Calibri Light</vt:lpstr>
      <vt:lpstr>Rockwell</vt:lpstr>
      <vt:lpstr>Wingdings</vt:lpstr>
      <vt:lpstr>Atlas</vt:lpstr>
      <vt:lpstr>Querying the Vector Store</vt:lpstr>
      <vt:lpstr>PowerPoint Presentation</vt:lpstr>
      <vt:lpstr>Plan for the session</vt:lpstr>
      <vt:lpstr>Introduction to querying</vt:lpstr>
      <vt:lpstr>Cosine Similarity</vt:lpstr>
      <vt:lpstr>k-Nearest Neighbours (k-NN)</vt:lpstr>
      <vt:lpstr>Other similarity measures</vt:lpstr>
      <vt:lpstr>Indexing embeddings</vt:lpstr>
      <vt:lpstr>Demo: Generating indexes</vt:lpstr>
      <vt:lpstr>Lab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Kevin Cunningham</dc:creator>
  <cp:lastModifiedBy>Kevin Cunningham</cp:lastModifiedBy>
  <cp:revision>6</cp:revision>
  <dcterms:created xsi:type="dcterms:W3CDTF">2025-06-26T06:06:10Z</dcterms:created>
  <dcterms:modified xsi:type="dcterms:W3CDTF">2026-07-27T19:14:56Z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e846ac8-2f35-49ff-a0d4-7a2bca5159e6_Enabled">
    <vt:lpwstr>true</vt:lpwstr>
  </property>
  <property fmtid="{D5CDD505-2E9C-101B-9397-08002B2CF9AE}" pid="3" name="MSIP_Label_3e846ac8-2f35-49ff-a0d4-7a2bca5159e6_SetDate">
    <vt:lpwstr>2026-07-27T19:14:56Z</vt:lpwstr>
  </property>
  <property fmtid="{D5CDD505-2E9C-101B-9397-08002B2CF9AE}" pid="4" name="MSIP_Label_3e846ac8-2f35-49ff-a0d4-7a2bca5159e6_Method">
    <vt:lpwstr>Standard</vt:lpwstr>
  </property>
  <property fmtid="{D5CDD505-2E9C-101B-9397-08002B2CF9AE}" pid="5" name="MSIP_Label_3e846ac8-2f35-49ff-a0d4-7a2bca5159e6_Name">
    <vt:lpwstr>Public</vt:lpwstr>
  </property>
  <property fmtid="{D5CDD505-2E9C-101B-9397-08002B2CF9AE}" pid="6" name="MSIP_Label_3e846ac8-2f35-49ff-a0d4-7a2bca5159e6_SiteId">
    <vt:lpwstr>c833c1d6-dac1-4651-a837-b02f69588349</vt:lpwstr>
  </property>
  <property fmtid="{D5CDD505-2E9C-101B-9397-08002B2CF9AE}" pid="7" name="MSIP_Label_3e846ac8-2f35-49ff-a0d4-7a2bca5159e6_ActionId">
    <vt:lpwstr>c5d19efa-f279-40fb-9f9a-42f4f16509ce</vt:lpwstr>
  </property>
  <property fmtid="{D5CDD505-2E9C-101B-9397-08002B2CF9AE}" pid="8" name="MSIP_Label_3e846ac8-2f35-49ff-a0d4-7a2bca5159e6_ContentBits">
    <vt:lpwstr>0</vt:lpwstr>
  </property>
  <property fmtid="{D5CDD505-2E9C-101B-9397-08002B2CF9AE}" pid="9" name="MSIP_Label_3e846ac8-2f35-49ff-a0d4-7a2bca5159e6_Tag">
    <vt:lpwstr>50, 3, 0, 1</vt:lpwstr>
  </property>
</Properties>
</file>